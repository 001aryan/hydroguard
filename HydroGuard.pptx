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5" r:id="rId3"/>
  </p:sldMasterIdLst>
  <p:notesMasterIdLst>
    <p:notesMasterId r:id="rId1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embeddedFontLst>
    <p:embeddedFont>
      <p:font typeface="Arial Black" panose="020B0A04020102020204" pitchFamily="34" charset="0"/>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jFcGCmT7x7QdKHsls8wfioGB4S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5183188" y="987425"/>
            <a:ext cx="6172200" cy="4873625"/>
          </a:xfrm>
          <a:prstGeom prst="rect">
            <a:avLst/>
          </a:prstGeom>
          <a:noFill/>
          <a:ln>
            <a:noFill/>
          </a:ln>
        </p:spPr>
      </p:sp>
      <p:sp>
        <p:nvSpPr>
          <p:cNvPr id="68" name="Google Shape;68;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Титульный слайд">
  <p:cSld name="1_Титульный слайд">
    <p:spTree>
      <p:nvGrpSpPr>
        <p:cNvPr id="1" name="Shape 84"/>
        <p:cNvGrpSpPr/>
        <p:nvPr/>
      </p:nvGrpSpPr>
      <p:grpSpPr>
        <a:xfrm>
          <a:off x="0" y="0"/>
          <a:ext cx="0" cy="0"/>
          <a:chOff x="0" y="0"/>
          <a:chExt cx="0" cy="0"/>
        </a:xfrm>
      </p:grpSpPr>
      <p:sp>
        <p:nvSpPr>
          <p:cNvPr id="85" name="Google Shape;85;p28"/>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 name="Google Shape;86;p28"/>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 name="Google Shape;87;p28"/>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 name="Google Shape;88;p28"/>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
        <p:cNvGrpSpPr/>
        <p:nvPr/>
      </p:nvGrpSpPr>
      <p:grpSpPr>
        <a:xfrm>
          <a:off x="0" y="0"/>
          <a:ext cx="0" cy="0"/>
          <a:chOff x="0" y="0"/>
          <a:chExt cx="0" cy="0"/>
        </a:xfrm>
      </p:grpSpPr>
      <p:sp>
        <p:nvSpPr>
          <p:cNvPr id="96" name="Google Shape;96;p3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3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8" name="Google Shape;9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3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3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10" name="Google Shape;110;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3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3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0"/>
        <p:cNvGrpSpPr/>
        <p:nvPr/>
      </p:nvGrpSpPr>
      <p:grpSpPr>
        <a:xfrm>
          <a:off x="0" y="0"/>
          <a:ext cx="0" cy="0"/>
          <a:chOff x="0" y="0"/>
          <a:chExt cx="0" cy="0"/>
        </a:xfrm>
      </p:grpSpPr>
      <p:sp>
        <p:nvSpPr>
          <p:cNvPr id="121" name="Google Shape;121;p3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3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3" name="Google Shape;123;p3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3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5" name="Google Shape;125;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4"/>
        <p:cNvGrpSpPr/>
        <p:nvPr/>
      </p:nvGrpSpPr>
      <p:grpSpPr>
        <a:xfrm>
          <a:off x="0" y="0"/>
          <a:ext cx="0" cy="0"/>
          <a:chOff x="0" y="0"/>
          <a:chExt cx="0" cy="0"/>
        </a:xfrm>
      </p:grpSpPr>
      <p:sp>
        <p:nvSpPr>
          <p:cNvPr id="135" name="Google Shape;13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8"/>
        <p:cNvGrpSpPr/>
        <p:nvPr/>
      </p:nvGrpSpPr>
      <p:grpSpPr>
        <a:xfrm>
          <a:off x="0" y="0"/>
          <a:ext cx="0" cy="0"/>
          <a:chOff x="0" y="0"/>
          <a:chExt cx="0" cy="0"/>
        </a:xfrm>
      </p:grpSpPr>
      <p:sp>
        <p:nvSpPr>
          <p:cNvPr id="139" name="Google Shape;139;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3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1" name="Google Shape;141;p3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5"/>
        <p:cNvGrpSpPr/>
        <p:nvPr/>
      </p:nvGrpSpPr>
      <p:grpSpPr>
        <a:xfrm>
          <a:off x="0" y="0"/>
          <a:ext cx="0" cy="0"/>
          <a:chOff x="0" y="0"/>
          <a:chExt cx="0" cy="0"/>
        </a:xfrm>
      </p:grpSpPr>
      <p:sp>
        <p:nvSpPr>
          <p:cNvPr id="146" name="Google Shape;146;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38"/>
          <p:cNvSpPr>
            <a:spLocks noGrp="1"/>
          </p:cNvSpPr>
          <p:nvPr>
            <p:ph type="pic" idx="2"/>
          </p:nvPr>
        </p:nvSpPr>
        <p:spPr>
          <a:xfrm>
            <a:off x="5183188" y="987425"/>
            <a:ext cx="6172200" cy="4873625"/>
          </a:xfrm>
          <a:prstGeom prst="rect">
            <a:avLst/>
          </a:prstGeom>
          <a:noFill/>
          <a:ln>
            <a:noFill/>
          </a:ln>
        </p:spPr>
      </p:sp>
      <p:sp>
        <p:nvSpPr>
          <p:cNvPr id="148" name="Google Shape;148;p3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2"/>
        <p:cNvGrpSpPr/>
        <p:nvPr/>
      </p:nvGrpSpPr>
      <p:grpSpPr>
        <a:xfrm>
          <a:off x="0" y="0"/>
          <a:ext cx="0" cy="0"/>
          <a:chOff x="0" y="0"/>
          <a:chExt cx="0" cy="0"/>
        </a:xfrm>
      </p:grpSpPr>
      <p:sp>
        <p:nvSpPr>
          <p:cNvPr id="153" name="Google Shape;153;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3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8"/>
        <p:cNvGrpSpPr/>
        <p:nvPr/>
      </p:nvGrpSpPr>
      <p:grpSpPr>
        <a:xfrm>
          <a:off x="0" y="0"/>
          <a:ext cx="0" cy="0"/>
          <a:chOff x="0" y="0"/>
          <a:chExt cx="0" cy="0"/>
        </a:xfrm>
      </p:grpSpPr>
      <p:sp>
        <p:nvSpPr>
          <p:cNvPr id="159" name="Google Shape;159;p4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4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Титульный слайд">
  <p:cSld name="1_Титульный слайд">
    <p:spTree>
      <p:nvGrpSpPr>
        <p:cNvPr id="1" name="Shape 164"/>
        <p:cNvGrpSpPr/>
        <p:nvPr/>
      </p:nvGrpSpPr>
      <p:grpSpPr>
        <a:xfrm>
          <a:off x="0" y="0"/>
          <a:ext cx="0" cy="0"/>
          <a:chOff x="0" y="0"/>
          <a:chExt cx="0" cy="0"/>
        </a:xfrm>
      </p:grpSpPr>
      <p:sp>
        <p:nvSpPr>
          <p:cNvPr id="165" name="Google Shape;165;p41"/>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41"/>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41"/>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41"/>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69"/>
        <p:cNvGrpSpPr/>
        <p:nvPr/>
      </p:nvGrpSpPr>
      <p:grpSpPr>
        <a:xfrm>
          <a:off x="0" y="0"/>
          <a:ext cx="0" cy="0"/>
          <a:chOff x="0" y="0"/>
          <a:chExt cx="0" cy="0"/>
        </a:xfrm>
      </p:grpSpPr>
      <p:sp>
        <p:nvSpPr>
          <p:cNvPr id="170" name="Google Shape;170;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2" name="Google Shape;172;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 Layout">
  <p:cSld name="Agenda Layout">
    <p:bg>
      <p:bgPr>
        <a:blipFill>
          <a:blip r:embed="rId2">
            <a:alphaModFix/>
          </a:blip>
          <a:stretch>
            <a:fillRect/>
          </a:stretch>
        </a:blipFill>
        <a:effectLst/>
      </p:bgPr>
    </p:bg>
    <p:spTree>
      <p:nvGrpSpPr>
        <p:cNvPr id="1" name="Shape 174"/>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sic Layout">
  <p:cSld name="Basic Layout">
    <p:bg>
      <p:bgPr>
        <a:blipFill>
          <a:blip r:embed="rId2">
            <a:alphaModFix/>
          </a:blip>
          <a:stretch>
            <a:fillRect/>
          </a:stretch>
        </a:blipFill>
        <a:effectLst/>
      </p:bgPr>
    </p:bg>
    <p:spTree>
      <p:nvGrpSpPr>
        <p:cNvPr id="1" name="Shape 175"/>
        <p:cNvGrpSpPr/>
        <p:nvPr/>
      </p:nvGrpSpPr>
      <p:grpSpPr>
        <a:xfrm>
          <a:off x="0" y="0"/>
          <a:ext cx="0" cy="0"/>
          <a:chOff x="0" y="0"/>
          <a:chExt cx="0" cy="0"/>
        </a:xfrm>
      </p:grpSpPr>
      <p:sp>
        <p:nvSpPr>
          <p:cNvPr id="176" name="Google Shape;176;p45"/>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77" name="Google Shape;177;p45"/>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chemeClr val="dk1"/>
              </a:buClr>
              <a:buSzPts val="1867"/>
              <a:buFont typeface="Arial"/>
              <a:buNone/>
              <a:defRPr sz="1867" b="0" i="0" u="none" strike="noStrike" cap="none">
                <a:solidFill>
                  <a:schemeClr val="dk1"/>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78" name="Google Shape;178;p45"/>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9" name="Google Shape;179;p45"/>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Basic Layout">
  <p:cSld name="1_Basic Layout">
    <p:bg>
      <p:bgPr>
        <a:solidFill>
          <a:schemeClr val="lt1"/>
        </a:solidFill>
        <a:effectLst/>
      </p:bgPr>
    </p:bg>
    <p:spTree>
      <p:nvGrpSpPr>
        <p:cNvPr id="1" name="Shape 180"/>
        <p:cNvGrpSpPr/>
        <p:nvPr/>
      </p:nvGrpSpPr>
      <p:grpSpPr>
        <a:xfrm>
          <a:off x="0" y="0"/>
          <a:ext cx="0" cy="0"/>
          <a:chOff x="0" y="0"/>
          <a:chExt cx="0" cy="0"/>
        </a:xfrm>
      </p:grpSpPr>
      <p:sp>
        <p:nvSpPr>
          <p:cNvPr id="181" name="Google Shape;181;p46"/>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82" name="Google Shape;182;p46"/>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7"/>
              <a:buFont typeface="Arial"/>
              <a:buNone/>
              <a:defRPr sz="1867"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83" name="Google Shape;183;p46"/>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84" name="Google Shape;184;p46"/>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_Basic Layout">
  <p:cSld name="2_Basic Layout">
    <p:bg>
      <p:bgPr>
        <a:solidFill>
          <a:schemeClr val="lt1"/>
        </a:solidFill>
        <a:effectLst/>
      </p:bgPr>
    </p:bg>
    <p:spTree>
      <p:nvGrpSpPr>
        <p:cNvPr id="1" name="Shape 185"/>
        <p:cNvGrpSpPr/>
        <p:nvPr/>
      </p:nvGrpSpPr>
      <p:grpSpPr>
        <a:xfrm>
          <a:off x="0" y="0"/>
          <a:ext cx="0" cy="0"/>
          <a:chOff x="0" y="0"/>
          <a:chExt cx="0" cy="0"/>
        </a:xfrm>
      </p:grpSpPr>
      <p:sp>
        <p:nvSpPr>
          <p:cNvPr id="186" name="Google Shape;186;p47"/>
          <p:cNvSpPr txBox="1">
            <a:spLocks noGrp="1"/>
          </p:cNvSpPr>
          <p:nvPr>
            <p:ph type="body" idx="1"/>
          </p:nvPr>
        </p:nvSpPr>
        <p:spPr>
          <a:xfrm>
            <a:off x="2735627" y="164638"/>
            <a:ext cx="9456373" cy="768085"/>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87" name="Google Shape;187;p47"/>
          <p:cNvSpPr txBox="1">
            <a:spLocks noGrp="1"/>
          </p:cNvSpPr>
          <p:nvPr>
            <p:ph type="body" idx="2"/>
          </p:nvPr>
        </p:nvSpPr>
        <p:spPr>
          <a:xfrm>
            <a:off x="2735627" y="932723"/>
            <a:ext cx="9456373" cy="384043"/>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73"/>
              </a:spcBef>
              <a:spcAft>
                <a:spcPts val="0"/>
              </a:spcAft>
              <a:buClr>
                <a:srgbClr val="3F3F3F"/>
              </a:buClr>
              <a:buSzPts val="1867"/>
              <a:buFont typeface="Arial"/>
              <a:buNone/>
              <a:defRPr sz="1867"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88" name="Google Shape;188;p47"/>
          <p:cNvSpPr/>
          <p:nvPr/>
        </p:nvSpPr>
        <p:spPr>
          <a:xfrm>
            <a:off x="0" y="1"/>
            <a:ext cx="2543605" cy="686418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189"/>
        <p:cNvGrpSpPr/>
        <p:nvPr/>
      </p:nvGrpSpPr>
      <p:grpSpPr>
        <a:xfrm>
          <a:off x="0" y="0"/>
          <a:ext cx="0" cy="0"/>
          <a:chOff x="0" y="0"/>
          <a:chExt cx="0" cy="0"/>
        </a:xfrm>
      </p:grpSpPr>
      <p:sp>
        <p:nvSpPr>
          <p:cNvPr id="190" name="Google Shape;190;p48"/>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91" name="Google Shape;191;p48"/>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7"/>
              <a:buFont typeface="Arial"/>
              <a:buNone/>
              <a:defRPr sz="1867"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192" name="Google Shape;192;p48"/>
          <p:cNvSpPr/>
          <p:nvPr/>
        </p:nvSpPr>
        <p:spPr>
          <a:xfrm>
            <a:off x="0" y="2276872"/>
            <a:ext cx="12192000" cy="2400267"/>
          </a:xfrm>
          <a:prstGeom prst="rect">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93" name="Google Shape;193;p48"/>
          <p:cNvSpPr/>
          <p:nvPr/>
        </p:nvSpPr>
        <p:spPr>
          <a:xfrm rot="10800000">
            <a:off x="158339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94" name="Google Shape;194;p48"/>
          <p:cNvSpPr/>
          <p:nvPr/>
        </p:nvSpPr>
        <p:spPr>
          <a:xfrm rot="10800000">
            <a:off x="446371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95" name="Google Shape;195;p48"/>
          <p:cNvSpPr/>
          <p:nvPr/>
        </p:nvSpPr>
        <p:spPr>
          <a:xfrm rot="10800000">
            <a:off x="734403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96" name="Google Shape;196;p48"/>
          <p:cNvSpPr/>
          <p:nvPr/>
        </p:nvSpPr>
        <p:spPr>
          <a:xfrm rot="10800000">
            <a:off x="10224348"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97" name="Google Shape;197;p48"/>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98" name="Google Shape;198;p48"/>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99" name="Google Shape;199;p48"/>
          <p:cNvSpPr>
            <a:spLocks noGrp="1"/>
          </p:cNvSpPr>
          <p:nvPr>
            <p:ph type="pic" idx="3"/>
          </p:nvPr>
        </p:nvSpPr>
        <p:spPr>
          <a:xfrm>
            <a:off x="815413" y="2517005"/>
            <a:ext cx="1920000" cy="1920000"/>
          </a:xfrm>
          <a:prstGeom prst="ellipse">
            <a:avLst/>
          </a:prstGeom>
          <a:solidFill>
            <a:srgbClr val="F2F2F2"/>
          </a:solidFill>
          <a:ln>
            <a:noFill/>
          </a:ln>
        </p:spPr>
      </p:sp>
      <p:sp>
        <p:nvSpPr>
          <p:cNvPr id="200" name="Google Shape;200;p48"/>
          <p:cNvSpPr>
            <a:spLocks noGrp="1"/>
          </p:cNvSpPr>
          <p:nvPr>
            <p:ph type="pic" idx="4"/>
          </p:nvPr>
        </p:nvSpPr>
        <p:spPr>
          <a:xfrm>
            <a:off x="3695732" y="2517005"/>
            <a:ext cx="1920000" cy="1920000"/>
          </a:xfrm>
          <a:prstGeom prst="ellipse">
            <a:avLst/>
          </a:prstGeom>
          <a:solidFill>
            <a:srgbClr val="F2F2F2"/>
          </a:solidFill>
          <a:ln>
            <a:noFill/>
          </a:ln>
        </p:spPr>
      </p:sp>
      <p:sp>
        <p:nvSpPr>
          <p:cNvPr id="201" name="Google Shape;201;p48"/>
          <p:cNvSpPr>
            <a:spLocks noGrp="1"/>
          </p:cNvSpPr>
          <p:nvPr>
            <p:ph type="pic" idx="5"/>
          </p:nvPr>
        </p:nvSpPr>
        <p:spPr>
          <a:xfrm>
            <a:off x="6576051" y="2517005"/>
            <a:ext cx="1920000" cy="1920000"/>
          </a:xfrm>
          <a:prstGeom prst="ellipse">
            <a:avLst/>
          </a:prstGeom>
          <a:solidFill>
            <a:srgbClr val="F2F2F2"/>
          </a:solidFill>
          <a:ln>
            <a:noFill/>
          </a:ln>
        </p:spPr>
      </p:sp>
      <p:sp>
        <p:nvSpPr>
          <p:cNvPr id="202" name="Google Shape;202;p48"/>
          <p:cNvSpPr>
            <a:spLocks noGrp="1"/>
          </p:cNvSpPr>
          <p:nvPr>
            <p:ph type="pic" idx="6"/>
          </p:nvPr>
        </p:nvSpPr>
        <p:spPr>
          <a:xfrm>
            <a:off x="9456369" y="2517005"/>
            <a:ext cx="1920000" cy="1920000"/>
          </a:xfrm>
          <a:prstGeom prst="ellipse">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Images and Contents Layout">
  <p:cSld name="1_Images and Contents Layout">
    <p:spTree>
      <p:nvGrpSpPr>
        <p:cNvPr id="1" name="Shape 203"/>
        <p:cNvGrpSpPr/>
        <p:nvPr/>
      </p:nvGrpSpPr>
      <p:grpSpPr>
        <a:xfrm>
          <a:off x="0" y="0"/>
          <a:ext cx="0" cy="0"/>
          <a:chOff x="0" y="0"/>
          <a:chExt cx="0" cy="0"/>
        </a:xfrm>
      </p:grpSpPr>
      <p:sp>
        <p:nvSpPr>
          <p:cNvPr id="204" name="Google Shape;204;p49"/>
          <p:cNvSpPr/>
          <p:nvPr/>
        </p:nvSpPr>
        <p:spPr>
          <a:xfrm>
            <a:off x="5231904" y="2276872"/>
            <a:ext cx="5711957" cy="3936437"/>
          </a:xfrm>
          <a:prstGeom prst="rect">
            <a:avLst/>
          </a:prstGeom>
          <a:solidFill>
            <a:srgbClr val="F2F2F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205" name="Google Shape;205;p49"/>
          <p:cNvSpPr>
            <a:spLocks noGrp="1"/>
          </p:cNvSpPr>
          <p:nvPr>
            <p:ph type="pic" idx="2"/>
          </p:nvPr>
        </p:nvSpPr>
        <p:spPr>
          <a:xfrm>
            <a:off x="1103445" y="1412776"/>
            <a:ext cx="4560000" cy="3696000"/>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Images and Contents Layout">
  <p:cSld name="2_Images and Contents Layout">
    <p:spTree>
      <p:nvGrpSpPr>
        <p:cNvPr id="1" name="Shape 206"/>
        <p:cNvGrpSpPr/>
        <p:nvPr/>
      </p:nvGrpSpPr>
      <p:grpSpPr>
        <a:xfrm>
          <a:off x="0" y="0"/>
          <a:ext cx="0" cy="0"/>
          <a:chOff x="0" y="0"/>
          <a:chExt cx="0" cy="0"/>
        </a:xfrm>
      </p:grpSpPr>
      <p:sp>
        <p:nvSpPr>
          <p:cNvPr id="207" name="Google Shape;207;p50"/>
          <p:cNvSpPr>
            <a:spLocks noGrp="1"/>
          </p:cNvSpPr>
          <p:nvPr>
            <p:ph type="pic" idx="2"/>
          </p:nvPr>
        </p:nvSpPr>
        <p:spPr>
          <a:xfrm>
            <a:off x="0" y="990600"/>
            <a:ext cx="3887755" cy="5867400"/>
          </a:xfrm>
          <a:prstGeom prst="rect">
            <a:avLst/>
          </a:prstGeom>
          <a:solidFill>
            <a:srgbClr val="F2F2F2"/>
          </a:solidFill>
          <a:ln>
            <a:noFill/>
          </a:ln>
        </p:spPr>
      </p:sp>
      <p:sp>
        <p:nvSpPr>
          <p:cNvPr id="208" name="Google Shape;208;p50"/>
          <p:cNvSpPr>
            <a:spLocks noGrp="1"/>
          </p:cNvSpPr>
          <p:nvPr>
            <p:ph type="pic" idx="3"/>
          </p:nvPr>
        </p:nvSpPr>
        <p:spPr>
          <a:xfrm>
            <a:off x="4079776" y="0"/>
            <a:ext cx="8112224" cy="3621021"/>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Images and Contents Layout">
  <p:cSld name="3_Images and Contents Layout">
    <p:spTree>
      <p:nvGrpSpPr>
        <p:cNvPr id="1" name="Shape 209"/>
        <p:cNvGrpSpPr/>
        <p:nvPr/>
      </p:nvGrpSpPr>
      <p:grpSpPr>
        <a:xfrm>
          <a:off x="0" y="0"/>
          <a:ext cx="0" cy="0"/>
          <a:chOff x="0" y="0"/>
          <a:chExt cx="0" cy="0"/>
        </a:xfrm>
      </p:grpSpPr>
      <p:sp>
        <p:nvSpPr>
          <p:cNvPr id="210" name="Google Shape;210;p51"/>
          <p:cNvSpPr>
            <a:spLocks noGrp="1"/>
          </p:cNvSpPr>
          <p:nvPr>
            <p:ph type="pic" idx="2"/>
          </p:nvPr>
        </p:nvSpPr>
        <p:spPr>
          <a:xfrm>
            <a:off x="0" y="1013496"/>
            <a:ext cx="3887755" cy="3567632"/>
          </a:xfrm>
          <a:prstGeom prst="rect">
            <a:avLst/>
          </a:prstGeom>
          <a:solidFill>
            <a:srgbClr val="F2F2F2"/>
          </a:solidFill>
          <a:ln>
            <a:noFill/>
          </a:ln>
        </p:spPr>
      </p:sp>
      <p:sp>
        <p:nvSpPr>
          <p:cNvPr id="211" name="Google Shape;211;p51"/>
          <p:cNvSpPr>
            <a:spLocks noGrp="1"/>
          </p:cNvSpPr>
          <p:nvPr>
            <p:ph type="pic" idx="3"/>
          </p:nvPr>
        </p:nvSpPr>
        <p:spPr>
          <a:xfrm>
            <a:off x="8304245" y="0"/>
            <a:ext cx="3887755" cy="4581128"/>
          </a:xfrm>
          <a:prstGeom prst="rect">
            <a:avLst/>
          </a:prstGeom>
          <a:solidFill>
            <a:srgbClr val="F2F2F2"/>
          </a:solidFill>
          <a:ln>
            <a:noFill/>
          </a:ln>
        </p:spPr>
      </p:sp>
      <p:sp>
        <p:nvSpPr>
          <p:cNvPr id="212" name="Google Shape;212;p51"/>
          <p:cNvSpPr>
            <a:spLocks noGrp="1"/>
          </p:cNvSpPr>
          <p:nvPr>
            <p:ph type="pic" idx="4"/>
          </p:nvPr>
        </p:nvSpPr>
        <p:spPr>
          <a:xfrm>
            <a:off x="0" y="4773149"/>
            <a:ext cx="6096000" cy="2084851"/>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4_Images and Contents Layout">
  <p:cSld name="4_Images and Contents Layout">
    <p:spTree>
      <p:nvGrpSpPr>
        <p:cNvPr id="1" name="Shape 213"/>
        <p:cNvGrpSpPr/>
        <p:nvPr/>
      </p:nvGrpSpPr>
      <p:grpSpPr>
        <a:xfrm>
          <a:off x="0" y="0"/>
          <a:ext cx="0" cy="0"/>
          <a:chOff x="0" y="0"/>
          <a:chExt cx="0" cy="0"/>
        </a:xfrm>
      </p:grpSpPr>
      <p:sp>
        <p:nvSpPr>
          <p:cNvPr id="214" name="Google Shape;214;p52"/>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215" name="Google Shape;215;p52"/>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7"/>
              <a:buFont typeface="Arial"/>
              <a:buNone/>
              <a:defRPr sz="1867"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216" name="Google Shape;216;p52"/>
          <p:cNvSpPr/>
          <p:nvPr/>
        </p:nvSpPr>
        <p:spPr>
          <a:xfrm>
            <a:off x="595027" y="4101331"/>
            <a:ext cx="2400000" cy="2304000"/>
          </a:xfrm>
          <a:prstGeom prst="rect">
            <a:avLst/>
          </a:prstGeom>
          <a:solidFill>
            <a:schemeClr val="accent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217" name="Google Shape;217;p52"/>
          <p:cNvSpPr/>
          <p:nvPr/>
        </p:nvSpPr>
        <p:spPr>
          <a:xfrm>
            <a:off x="9196973" y="1700808"/>
            <a:ext cx="2400000" cy="2304000"/>
          </a:xfrm>
          <a:prstGeom prst="rect">
            <a:avLst/>
          </a:prstGeom>
          <a:solidFill>
            <a:schemeClr val="accent3"/>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218" name="Google Shape;218;p52"/>
          <p:cNvSpPr>
            <a:spLocks noGrp="1"/>
          </p:cNvSpPr>
          <p:nvPr>
            <p:ph type="pic" idx="3"/>
          </p:nvPr>
        </p:nvSpPr>
        <p:spPr>
          <a:xfrm>
            <a:off x="595027" y="1700808"/>
            <a:ext cx="2400000" cy="2304000"/>
          </a:xfrm>
          <a:prstGeom prst="rect">
            <a:avLst/>
          </a:prstGeom>
          <a:solidFill>
            <a:srgbClr val="F2F2F2"/>
          </a:solidFill>
          <a:ln>
            <a:noFill/>
          </a:ln>
        </p:spPr>
      </p:sp>
      <p:sp>
        <p:nvSpPr>
          <p:cNvPr id="219" name="Google Shape;219;p52"/>
          <p:cNvSpPr>
            <a:spLocks noGrp="1"/>
          </p:cNvSpPr>
          <p:nvPr>
            <p:ph type="pic" idx="4"/>
          </p:nvPr>
        </p:nvSpPr>
        <p:spPr>
          <a:xfrm>
            <a:off x="9196973" y="4101331"/>
            <a:ext cx="2400000" cy="2304000"/>
          </a:xfrm>
          <a:prstGeom prst="rect">
            <a:avLst/>
          </a:prstGeom>
          <a:solidFill>
            <a:srgbClr val="F2F2F2"/>
          </a:solidFill>
          <a:ln>
            <a:noFill/>
          </a:ln>
        </p:spPr>
      </p:sp>
      <p:sp>
        <p:nvSpPr>
          <p:cNvPr id="220" name="Google Shape;220;p52"/>
          <p:cNvSpPr>
            <a:spLocks noGrp="1"/>
          </p:cNvSpPr>
          <p:nvPr>
            <p:ph type="pic" idx="5"/>
          </p:nvPr>
        </p:nvSpPr>
        <p:spPr>
          <a:xfrm>
            <a:off x="3119669" y="4101331"/>
            <a:ext cx="5952663" cy="2304000"/>
          </a:xfrm>
          <a:prstGeom prst="rect">
            <a:avLst/>
          </a:prstGeom>
          <a:solidFill>
            <a:srgbClr val="F2F2F2"/>
          </a:solidFill>
          <a:ln>
            <a:noFill/>
          </a:ln>
        </p:spPr>
      </p:sp>
      <p:sp>
        <p:nvSpPr>
          <p:cNvPr id="221" name="Google Shape;221;p52"/>
          <p:cNvSpPr>
            <a:spLocks noGrp="1"/>
          </p:cNvSpPr>
          <p:nvPr>
            <p:ph type="pic" idx="6"/>
          </p:nvPr>
        </p:nvSpPr>
        <p:spPr>
          <a:xfrm>
            <a:off x="3119669" y="1700808"/>
            <a:ext cx="5952663" cy="2304000"/>
          </a:xfrm>
          <a:prstGeom prst="rect">
            <a:avLst/>
          </a:prstGeom>
          <a:solidFill>
            <a:srgbClr val="F2F2F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5_Images and Contents Layout">
  <p:cSld name="5_Images and Contents Layout">
    <p:spTree>
      <p:nvGrpSpPr>
        <p:cNvPr id="1" name="Shape 222"/>
        <p:cNvGrpSpPr/>
        <p:nvPr/>
      </p:nvGrpSpPr>
      <p:grpSpPr>
        <a:xfrm>
          <a:off x="0" y="0"/>
          <a:ext cx="0" cy="0"/>
          <a:chOff x="0" y="0"/>
          <a:chExt cx="0" cy="0"/>
        </a:xfrm>
      </p:grpSpPr>
      <p:sp>
        <p:nvSpPr>
          <p:cNvPr id="223" name="Google Shape;223;p53"/>
          <p:cNvSpPr>
            <a:spLocks noGrp="1"/>
          </p:cNvSpPr>
          <p:nvPr>
            <p:ph type="pic" idx="2"/>
          </p:nvPr>
        </p:nvSpPr>
        <p:spPr>
          <a:xfrm>
            <a:off x="709650" y="480055"/>
            <a:ext cx="4224469" cy="4197085"/>
          </a:xfrm>
          <a:prstGeom prst="rect">
            <a:avLst/>
          </a:prstGeom>
          <a:solidFill>
            <a:srgbClr val="F2F2F2"/>
          </a:solidFill>
          <a:ln>
            <a:noFill/>
          </a:ln>
        </p:spPr>
      </p:sp>
      <p:sp>
        <p:nvSpPr>
          <p:cNvPr id="224" name="Google Shape;224;p53"/>
          <p:cNvSpPr>
            <a:spLocks noGrp="1"/>
          </p:cNvSpPr>
          <p:nvPr>
            <p:ph type="pic" idx="3"/>
          </p:nvPr>
        </p:nvSpPr>
        <p:spPr>
          <a:xfrm>
            <a:off x="5126140" y="480056"/>
            <a:ext cx="6336704" cy="2296105"/>
          </a:xfrm>
          <a:prstGeom prst="rect">
            <a:avLst/>
          </a:prstGeom>
          <a:solidFill>
            <a:srgbClr val="F2F2F2"/>
          </a:solidFill>
          <a:ln>
            <a:noFill/>
          </a:ln>
        </p:spPr>
      </p:sp>
      <p:sp>
        <p:nvSpPr>
          <p:cNvPr id="225" name="Google Shape;225;p53"/>
          <p:cNvSpPr>
            <a:spLocks noGrp="1"/>
          </p:cNvSpPr>
          <p:nvPr>
            <p:ph type="pic" idx="4"/>
          </p:nvPr>
        </p:nvSpPr>
        <p:spPr>
          <a:xfrm>
            <a:off x="5126140" y="2948948"/>
            <a:ext cx="1968000" cy="1728192"/>
          </a:xfrm>
          <a:prstGeom prst="rect">
            <a:avLst/>
          </a:prstGeom>
          <a:solidFill>
            <a:srgbClr val="F2F2F2"/>
          </a:solidFill>
          <a:ln>
            <a:noFill/>
          </a:ln>
        </p:spPr>
      </p:sp>
      <p:sp>
        <p:nvSpPr>
          <p:cNvPr id="226" name="Google Shape;226;p53"/>
          <p:cNvSpPr>
            <a:spLocks noGrp="1"/>
          </p:cNvSpPr>
          <p:nvPr>
            <p:ph type="pic" idx="5"/>
          </p:nvPr>
        </p:nvSpPr>
        <p:spPr>
          <a:xfrm>
            <a:off x="7310492" y="2948948"/>
            <a:ext cx="1968000" cy="1728192"/>
          </a:xfrm>
          <a:prstGeom prst="rect">
            <a:avLst/>
          </a:prstGeom>
          <a:solidFill>
            <a:srgbClr val="F2F2F2"/>
          </a:solidFill>
          <a:ln>
            <a:noFill/>
          </a:ln>
        </p:spPr>
      </p:sp>
      <p:sp>
        <p:nvSpPr>
          <p:cNvPr id="227" name="Google Shape;227;p53"/>
          <p:cNvSpPr>
            <a:spLocks noGrp="1"/>
          </p:cNvSpPr>
          <p:nvPr>
            <p:ph type="pic" idx="6"/>
          </p:nvPr>
        </p:nvSpPr>
        <p:spPr>
          <a:xfrm>
            <a:off x="9494844" y="2948948"/>
            <a:ext cx="1968000" cy="1728192"/>
          </a:xfrm>
          <a:prstGeom prst="rect">
            <a:avLst/>
          </a:prstGeom>
          <a:solidFill>
            <a:srgbClr val="F2F2F2"/>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7_Images and Contents Layout">
  <p:cSld name="7_Images and Contents Layout">
    <p:spTree>
      <p:nvGrpSpPr>
        <p:cNvPr id="1" name="Shape 228"/>
        <p:cNvGrpSpPr/>
        <p:nvPr/>
      </p:nvGrpSpPr>
      <p:grpSpPr>
        <a:xfrm>
          <a:off x="0" y="0"/>
          <a:ext cx="0" cy="0"/>
          <a:chOff x="0" y="0"/>
          <a:chExt cx="0" cy="0"/>
        </a:xfrm>
      </p:grpSpPr>
      <p:sp>
        <p:nvSpPr>
          <p:cNvPr id="229" name="Google Shape;229;p54"/>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230" name="Google Shape;230;p54"/>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7"/>
              <a:buFont typeface="Arial"/>
              <a:buNone/>
              <a:defRPr sz="1867"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231" name="Google Shape;231;p54"/>
          <p:cNvPicPr preferRelativeResize="0"/>
          <p:nvPr/>
        </p:nvPicPr>
        <p:blipFill rotWithShape="1">
          <a:blip r:embed="rId2">
            <a:alphaModFix/>
          </a:blip>
          <a:srcRect/>
          <a:stretch/>
        </p:blipFill>
        <p:spPr>
          <a:xfrm>
            <a:off x="4546767" y="2276873"/>
            <a:ext cx="7238124" cy="3966041"/>
          </a:xfrm>
          <a:prstGeom prst="rect">
            <a:avLst/>
          </a:prstGeom>
          <a:noFill/>
          <a:ln>
            <a:noFill/>
          </a:ln>
        </p:spPr>
      </p:pic>
      <p:sp>
        <p:nvSpPr>
          <p:cNvPr id="232" name="Google Shape;232;p54"/>
          <p:cNvSpPr>
            <a:spLocks noGrp="1"/>
          </p:cNvSpPr>
          <p:nvPr>
            <p:ph type="pic" idx="3"/>
          </p:nvPr>
        </p:nvSpPr>
        <p:spPr>
          <a:xfrm>
            <a:off x="5705875" y="2485912"/>
            <a:ext cx="4832891" cy="3124239"/>
          </a:xfrm>
          <a:prstGeom prst="rect">
            <a:avLst/>
          </a:prstGeom>
          <a:solidFill>
            <a:srgbClr val="F2F2F2"/>
          </a:solidFill>
          <a:ln>
            <a:noFill/>
          </a:ln>
        </p:spPr>
      </p:sp>
      <p:sp>
        <p:nvSpPr>
          <p:cNvPr id="233" name="Google Shape;233;p54"/>
          <p:cNvSpPr/>
          <p:nvPr/>
        </p:nvSpPr>
        <p:spPr>
          <a:xfrm>
            <a:off x="4037371" y="1"/>
            <a:ext cx="4128459" cy="60959"/>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234" name="Google Shape;234;p54"/>
          <p:cNvSpPr/>
          <p:nvPr/>
        </p:nvSpPr>
        <p:spPr>
          <a:xfrm>
            <a:off x="0" y="6753308"/>
            <a:ext cx="12192000" cy="110875"/>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8_Images and Contents Layout">
  <p:cSld name="8_Images and Contents Layout">
    <p:spTree>
      <p:nvGrpSpPr>
        <p:cNvPr id="1" name="Shape 235"/>
        <p:cNvGrpSpPr/>
        <p:nvPr/>
      </p:nvGrpSpPr>
      <p:grpSpPr>
        <a:xfrm>
          <a:off x="0" y="0"/>
          <a:ext cx="0" cy="0"/>
          <a:chOff x="0" y="0"/>
          <a:chExt cx="0" cy="0"/>
        </a:xfrm>
      </p:grpSpPr>
      <p:sp>
        <p:nvSpPr>
          <p:cNvPr id="236" name="Google Shape;236;p55"/>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sp>
        <p:nvSpPr>
          <p:cNvPr id="237" name="Google Shape;237;p55"/>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7"/>
              <a:buFont typeface="Arial"/>
              <a:buNone/>
              <a:defRPr sz="1867" b="0" i="0" u="none" strike="noStrike" cap="none">
                <a:solidFill>
                  <a:srgbClr val="3F3F3F"/>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pic>
        <p:nvPicPr>
          <p:cNvPr id="238" name="Google Shape;238;p55" descr="D:\Fullppt\005-PNG이미지\모니터.png"/>
          <p:cNvPicPr preferRelativeResize="0"/>
          <p:nvPr/>
        </p:nvPicPr>
        <p:blipFill rotWithShape="1">
          <a:blip r:embed="rId2">
            <a:alphaModFix/>
          </a:blip>
          <a:srcRect/>
          <a:stretch/>
        </p:blipFill>
        <p:spPr>
          <a:xfrm>
            <a:off x="776400" y="1815747"/>
            <a:ext cx="3360373" cy="3350541"/>
          </a:xfrm>
          <a:prstGeom prst="rect">
            <a:avLst/>
          </a:prstGeom>
          <a:noFill/>
          <a:ln>
            <a:noFill/>
          </a:ln>
        </p:spPr>
      </p:pic>
      <p:pic>
        <p:nvPicPr>
          <p:cNvPr id="239" name="Google Shape;239;p55" descr="D:\Fullppt\005-PNG이미지\모니터.png"/>
          <p:cNvPicPr preferRelativeResize="0"/>
          <p:nvPr/>
        </p:nvPicPr>
        <p:blipFill rotWithShape="1">
          <a:blip r:embed="rId2">
            <a:alphaModFix/>
          </a:blip>
          <a:srcRect/>
          <a:stretch/>
        </p:blipFill>
        <p:spPr>
          <a:xfrm>
            <a:off x="4406826" y="1815747"/>
            <a:ext cx="3360373" cy="3350541"/>
          </a:xfrm>
          <a:prstGeom prst="rect">
            <a:avLst/>
          </a:prstGeom>
          <a:noFill/>
          <a:ln>
            <a:noFill/>
          </a:ln>
        </p:spPr>
      </p:pic>
      <p:pic>
        <p:nvPicPr>
          <p:cNvPr id="240" name="Google Shape;240;p55" descr="D:\Fullppt\005-PNG이미지\모니터.png"/>
          <p:cNvPicPr preferRelativeResize="0"/>
          <p:nvPr/>
        </p:nvPicPr>
        <p:blipFill rotWithShape="1">
          <a:blip r:embed="rId2">
            <a:alphaModFix/>
          </a:blip>
          <a:srcRect/>
          <a:stretch/>
        </p:blipFill>
        <p:spPr>
          <a:xfrm>
            <a:off x="8037251" y="1815747"/>
            <a:ext cx="3360373" cy="3350541"/>
          </a:xfrm>
          <a:prstGeom prst="rect">
            <a:avLst/>
          </a:prstGeom>
          <a:noFill/>
          <a:ln>
            <a:noFill/>
          </a:ln>
        </p:spPr>
      </p:pic>
      <p:sp>
        <p:nvSpPr>
          <p:cNvPr id="241" name="Google Shape;241;p55"/>
          <p:cNvSpPr>
            <a:spLocks noGrp="1"/>
          </p:cNvSpPr>
          <p:nvPr>
            <p:ph type="pic" idx="3"/>
          </p:nvPr>
        </p:nvSpPr>
        <p:spPr>
          <a:xfrm>
            <a:off x="909901" y="1957962"/>
            <a:ext cx="3073864" cy="2080028"/>
          </a:xfrm>
          <a:prstGeom prst="rect">
            <a:avLst/>
          </a:prstGeom>
          <a:solidFill>
            <a:srgbClr val="F2F2F2"/>
          </a:solidFill>
          <a:ln>
            <a:noFill/>
          </a:ln>
        </p:spPr>
      </p:sp>
      <p:sp>
        <p:nvSpPr>
          <p:cNvPr id="242" name="Google Shape;242;p55"/>
          <p:cNvSpPr>
            <a:spLocks noGrp="1"/>
          </p:cNvSpPr>
          <p:nvPr>
            <p:ph type="pic" idx="4"/>
          </p:nvPr>
        </p:nvSpPr>
        <p:spPr>
          <a:xfrm>
            <a:off x="4539561" y="1957962"/>
            <a:ext cx="3073864" cy="2080028"/>
          </a:xfrm>
          <a:prstGeom prst="rect">
            <a:avLst/>
          </a:prstGeom>
          <a:solidFill>
            <a:srgbClr val="F2F2F2"/>
          </a:solidFill>
          <a:ln>
            <a:noFill/>
          </a:ln>
        </p:spPr>
      </p:sp>
      <p:sp>
        <p:nvSpPr>
          <p:cNvPr id="243" name="Google Shape;243;p55"/>
          <p:cNvSpPr>
            <a:spLocks noGrp="1"/>
          </p:cNvSpPr>
          <p:nvPr>
            <p:ph type="pic" idx="5"/>
          </p:nvPr>
        </p:nvSpPr>
        <p:spPr>
          <a:xfrm>
            <a:off x="8169221" y="1957962"/>
            <a:ext cx="3073864" cy="2080028"/>
          </a:xfrm>
          <a:prstGeom prst="rect">
            <a:avLst/>
          </a:prstGeom>
          <a:solidFill>
            <a:srgbClr val="F2F2F2"/>
          </a:solidFill>
          <a:ln>
            <a:noFill/>
          </a:ln>
        </p:spPr>
      </p:sp>
      <p:sp>
        <p:nvSpPr>
          <p:cNvPr id="244" name="Google Shape;244;p55"/>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245" name="Google Shape;245;p55"/>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9_Images and Contents Layout">
  <p:cSld name="9_Images and Contents Layout">
    <p:spTree>
      <p:nvGrpSpPr>
        <p:cNvPr id="1" name="Shape 246"/>
        <p:cNvGrpSpPr/>
        <p:nvPr/>
      </p:nvGrpSpPr>
      <p:grpSpPr>
        <a:xfrm>
          <a:off x="0" y="0"/>
          <a:ext cx="0" cy="0"/>
          <a:chOff x="0" y="0"/>
          <a:chExt cx="0" cy="0"/>
        </a:xfrm>
      </p:grpSpPr>
      <p:sp>
        <p:nvSpPr>
          <p:cNvPr id="247" name="Google Shape;247;p56"/>
          <p:cNvSpPr>
            <a:spLocks noGrp="1"/>
          </p:cNvSpPr>
          <p:nvPr>
            <p:ph type="pic" idx="2"/>
          </p:nvPr>
        </p:nvSpPr>
        <p:spPr>
          <a:xfrm>
            <a:off x="0" y="0"/>
            <a:ext cx="12192000" cy="4101075"/>
          </a:xfrm>
          <a:prstGeom prst="rect">
            <a:avLst/>
          </a:prstGeom>
          <a:solidFill>
            <a:srgbClr val="D8D8D8"/>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icon sets layout">
  <p:cSld name="icon sets layout">
    <p:spTree>
      <p:nvGrpSpPr>
        <p:cNvPr id="1" name="Shape 248"/>
        <p:cNvGrpSpPr/>
        <p:nvPr/>
      </p:nvGrpSpPr>
      <p:grpSpPr>
        <a:xfrm>
          <a:off x="0" y="0"/>
          <a:ext cx="0" cy="0"/>
          <a:chOff x="0" y="0"/>
          <a:chExt cx="0" cy="0"/>
        </a:xfrm>
      </p:grpSpPr>
      <p:sp>
        <p:nvSpPr>
          <p:cNvPr id="249" name="Google Shape;249;p57"/>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Arial"/>
                <a:ea typeface="Arial"/>
                <a:cs typeface="Arial"/>
                <a:sym typeface="Arial"/>
              </a:defRPr>
            </a:lvl9pPr>
          </a:lstStyle>
          <a:p>
            <a:endParaRPr/>
          </a:p>
        </p:txBody>
      </p:sp>
      <p:grpSp>
        <p:nvGrpSpPr>
          <p:cNvPr id="250" name="Google Shape;250;p57"/>
          <p:cNvGrpSpPr/>
          <p:nvPr/>
        </p:nvGrpSpPr>
        <p:grpSpPr>
          <a:xfrm>
            <a:off x="472011" y="1508786"/>
            <a:ext cx="3799787" cy="4865561"/>
            <a:chOff x="354008" y="1131589"/>
            <a:chExt cx="2849840" cy="3649171"/>
          </a:xfrm>
        </p:grpSpPr>
        <p:sp>
          <p:nvSpPr>
            <p:cNvPr id="251" name="Google Shape;251;p57"/>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252" name="Google Shape;252;p57"/>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253" name="Google Shape;253;p57"/>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89"/>
        <p:cNvGrpSpPr/>
        <p:nvPr/>
      </p:nvGrpSpPr>
      <p:grpSpPr>
        <a:xfrm>
          <a:off x="0" y="0"/>
          <a:ext cx="0" cy="0"/>
          <a:chOff x="0" y="0"/>
          <a:chExt cx="0" cy="0"/>
        </a:xfrm>
      </p:grpSpPr>
      <p:sp>
        <p:nvSpPr>
          <p:cNvPr id="90" name="Google Shape;9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1" name="Google Shape;9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 name="Google Shape;9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3" name="Google Shape;9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
          <p:cNvSpPr/>
          <p:nvPr/>
        </p:nvSpPr>
        <p:spPr>
          <a:xfrm>
            <a:off x="-4421" y="6053794"/>
            <a:ext cx="12196420" cy="43919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9" name="Google Shape;259;p1"/>
          <p:cNvSpPr/>
          <p:nvPr/>
        </p:nvSpPr>
        <p:spPr>
          <a:xfrm>
            <a:off x="302197" y="5901985"/>
            <a:ext cx="45719" cy="61388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0" name="Google Shape;260;p1"/>
          <p:cNvSpPr txBox="1"/>
          <p:nvPr/>
        </p:nvSpPr>
        <p:spPr>
          <a:xfrm>
            <a:off x="8763000" y="65087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261" name="Google Shape;261;p1"/>
          <p:cNvSpPr/>
          <p:nvPr/>
        </p:nvSpPr>
        <p:spPr>
          <a:xfrm rot="10800000" flipH="1">
            <a:off x="9506857" y="5939880"/>
            <a:ext cx="1291772" cy="1157606"/>
          </a:xfrm>
          <a:prstGeom prst="rtTriangle">
            <a:avLst/>
          </a:prstGeom>
          <a:solidFill>
            <a:srgbClr val="F2F2F2">
              <a:alpha val="1686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62" name="Google Shape;262;p1"/>
          <p:cNvSpPr/>
          <p:nvPr/>
        </p:nvSpPr>
        <p:spPr>
          <a:xfrm flipH="1">
            <a:off x="7045437" y="-64960"/>
            <a:ext cx="5146562" cy="5852440"/>
          </a:xfrm>
          <a:prstGeom prst="rtTriangle">
            <a:avLst/>
          </a:prstGeom>
          <a:solidFill>
            <a:srgbClr val="F2F2F2">
              <a:alpha val="16862"/>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63" name="Google Shape;263;p1"/>
          <p:cNvSpPr/>
          <p:nvPr/>
        </p:nvSpPr>
        <p:spPr>
          <a:xfrm>
            <a:off x="2695892" y="1850059"/>
            <a:ext cx="6829425" cy="2797237"/>
          </a:xfrm>
          <a:prstGeom prst="rect">
            <a:avLst/>
          </a:prstGeom>
          <a:gradFill>
            <a:gsLst>
              <a:gs pos="0">
                <a:srgbClr val="FFFFFF">
                  <a:alpha val="0"/>
                </a:srgbClr>
              </a:gs>
              <a:gs pos="2655">
                <a:srgbClr val="FFFFFF">
                  <a:alpha val="0"/>
                </a:srgbClr>
              </a:gs>
              <a:gs pos="15000">
                <a:srgbClr val="FFFFFF">
                  <a:alpha val="33725"/>
                </a:srgbClr>
              </a:gs>
              <a:gs pos="51000">
                <a:schemeClr val="lt1"/>
              </a:gs>
              <a:gs pos="94000">
                <a:srgbClr val="FFFFFF">
                  <a:alpha val="33725"/>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r>
              <a:rPr lang="en-US" sz="2400" b="0" i="1"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chitects Daughter"/>
              </a:rPr>
              <a:t>Submitted in the partial fulfillment for the award of the degree of</a:t>
            </a:r>
            <a:endParaRPr dirty="0">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15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BACHELOR OF ENGINEERING </a:t>
            </a:r>
            <a:endParaRPr sz="24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None/>
            </a:pPr>
            <a:r>
              <a:rPr lang="en-US" sz="2400" b="0" i="1"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chitects Daughter"/>
              </a:rPr>
              <a:t> IN</a:t>
            </a:r>
            <a:endParaRPr dirty="0">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150000"/>
              </a:lnSpc>
              <a:spcBef>
                <a:spcPts val="0"/>
              </a:spcBef>
              <a:spcAft>
                <a:spcPts val="0"/>
              </a:spcAft>
              <a:buNone/>
            </a:pPr>
            <a:r>
              <a:rPr lang="en-US" sz="2400" b="0" i="1" u="none" strike="noStrike" cap="none" dirty="0">
                <a:solidFill>
                  <a:srgbClr val="000000"/>
                </a:solidFill>
                <a:latin typeface="Calibri"/>
                <a:ea typeface="Calibri"/>
                <a:cs typeface="Calibri"/>
                <a:sym typeface="Calibri"/>
              </a:rPr>
              <a:t>COMPUTER SCIENCE ENGINEERING </a:t>
            </a:r>
            <a:br>
              <a:rPr lang="en-US" sz="2400" b="0" i="1" u="none" strike="noStrike" cap="none" dirty="0">
                <a:solidFill>
                  <a:srgbClr val="000000"/>
                </a:solidFill>
                <a:latin typeface="Calibri"/>
                <a:ea typeface="Calibri"/>
                <a:cs typeface="Calibri"/>
                <a:sym typeface="Calibri"/>
              </a:rPr>
            </a:br>
            <a:r>
              <a:rPr lang="en-US" sz="2400" b="0" i="1" u="none" strike="noStrike" cap="none" dirty="0">
                <a:solidFill>
                  <a:srgbClr val="000000"/>
                </a:solidFill>
                <a:latin typeface="Calibri"/>
                <a:ea typeface="Calibri"/>
                <a:cs typeface="Calibri"/>
                <a:sym typeface="Calibri"/>
              </a:rPr>
              <a:t>specialization in Internet Of Things</a:t>
            </a:r>
            <a:endParaRPr dirty="0"/>
          </a:p>
          <a:p>
            <a:pPr marL="0" marR="0" lvl="0" indent="0" algn="ctr" rtl="0">
              <a:lnSpc>
                <a:spcPct val="150000"/>
              </a:lnSpc>
              <a:spcBef>
                <a:spcPts val="0"/>
              </a:spcBef>
              <a:spcAft>
                <a:spcPts val="0"/>
              </a:spcAft>
              <a:buNone/>
            </a:pPr>
            <a:endParaRPr sz="2400" b="0" i="1" u="none" strike="noStrike" cap="none" dirty="0">
              <a:solidFill>
                <a:srgbClr val="000000"/>
              </a:solidFill>
              <a:latin typeface="Calibri"/>
              <a:ea typeface="Calibri"/>
              <a:cs typeface="Calibri"/>
              <a:sym typeface="Calibri"/>
            </a:endParaRPr>
          </a:p>
        </p:txBody>
      </p:sp>
      <p:sp>
        <p:nvSpPr>
          <p:cNvPr id="264" name="Google Shape;264;p1"/>
          <p:cNvSpPr/>
          <p:nvPr/>
        </p:nvSpPr>
        <p:spPr>
          <a:xfrm flipH="1">
            <a:off x="9829797" y="5333999"/>
            <a:ext cx="2366623" cy="1600201"/>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5" name="Google Shape;265;p1"/>
          <p:cNvSpPr txBox="1"/>
          <p:nvPr/>
        </p:nvSpPr>
        <p:spPr>
          <a:xfrm>
            <a:off x="6885780" y="6356350"/>
            <a:ext cx="492860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600" b="1" i="0" u="none" strike="noStrike" cap="none">
              <a:solidFill>
                <a:schemeClr val="dk1"/>
              </a:solidFill>
              <a:latin typeface="Arial"/>
              <a:ea typeface="Arial"/>
              <a:cs typeface="Arial"/>
              <a:sym typeface="Arial"/>
            </a:endParaRPr>
          </a:p>
        </p:txBody>
      </p:sp>
      <p:sp>
        <p:nvSpPr>
          <p:cNvPr id="266" name="Google Shape;266;p1"/>
          <p:cNvSpPr/>
          <p:nvPr/>
        </p:nvSpPr>
        <p:spPr>
          <a:xfrm>
            <a:off x="6885780" y="6043646"/>
            <a:ext cx="45719" cy="37062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7" name="Google Shape;267;p1"/>
          <p:cNvSpPr txBox="1"/>
          <p:nvPr/>
        </p:nvSpPr>
        <p:spPr>
          <a:xfrm>
            <a:off x="-509042" y="6356350"/>
            <a:ext cx="5882609" cy="43088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2400" b="1" i="0" u="none" strike="noStrike" cap="none">
                <a:solidFill>
                  <a:srgbClr val="FF0000"/>
                </a:solidFill>
                <a:latin typeface="Times New Roman"/>
                <a:ea typeface="Times New Roman"/>
                <a:cs typeface="Times New Roman"/>
                <a:sym typeface="Times New Roman"/>
              </a:rPr>
              <a:t>Department of AIT-CSE</a:t>
            </a:r>
            <a:endParaRPr sz="1600" b="0" i="0" u="none" strike="noStrike" cap="none">
              <a:solidFill>
                <a:srgbClr val="FF0000"/>
              </a:solidFill>
              <a:latin typeface="Times New Roman"/>
              <a:ea typeface="Times New Roman"/>
              <a:cs typeface="Times New Roman"/>
              <a:sym typeface="Times New Roman"/>
            </a:endParaRPr>
          </a:p>
        </p:txBody>
      </p:sp>
      <p:sp>
        <p:nvSpPr>
          <p:cNvPr id="268" name="Google Shape;268;p1"/>
          <p:cNvSpPr txBox="1"/>
          <p:nvPr/>
        </p:nvSpPr>
        <p:spPr>
          <a:xfrm>
            <a:off x="612475" y="128018"/>
            <a:ext cx="11579524" cy="1876627"/>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900" b="1" dirty="0" err="1">
                <a:solidFill>
                  <a:schemeClr val="dk1"/>
                </a:solidFill>
                <a:latin typeface="Arial Black" panose="020B0A04020102020204" pitchFamily="34" charset="0"/>
                <a:ea typeface="Calibri" panose="020F0502020204030204" pitchFamily="34" charset="0"/>
                <a:cs typeface="Calibri" panose="020F0502020204030204" pitchFamily="34" charset="0"/>
                <a:sym typeface="Lobster"/>
              </a:rPr>
              <a:t>HydroGuard</a:t>
            </a:r>
            <a:r>
              <a:rPr lang="en-US" sz="1900" b="1" dirty="0">
                <a:solidFill>
                  <a:schemeClr val="dk1"/>
                </a:solidFill>
                <a:latin typeface="Arial Black" panose="020B0A04020102020204" pitchFamily="34" charset="0"/>
                <a:ea typeface="Calibri" panose="020F0502020204030204" pitchFamily="34" charset="0"/>
                <a:cs typeface="Calibri" panose="020F0502020204030204" pitchFamily="34" charset="0"/>
                <a:sym typeface="Lobster"/>
              </a:rPr>
              <a:t> : A Cloud-Integrated </a:t>
            </a:r>
            <a:r>
              <a:rPr lang="en-US" sz="1900" b="1" dirty="0" err="1">
                <a:solidFill>
                  <a:schemeClr val="dk1"/>
                </a:solidFill>
                <a:latin typeface="Arial Black" panose="020B0A04020102020204" pitchFamily="34" charset="0"/>
                <a:ea typeface="Calibri" panose="020F0502020204030204" pitchFamily="34" charset="0"/>
                <a:cs typeface="Calibri" panose="020F0502020204030204" pitchFamily="34" charset="0"/>
                <a:sym typeface="Lobster"/>
              </a:rPr>
              <a:t>AIoT</a:t>
            </a:r>
            <a:r>
              <a:rPr lang="en-US" sz="1900" b="1" dirty="0">
                <a:solidFill>
                  <a:schemeClr val="dk1"/>
                </a:solidFill>
                <a:latin typeface="Arial Black" panose="020B0A04020102020204" pitchFamily="34" charset="0"/>
                <a:ea typeface="Calibri" panose="020F0502020204030204" pitchFamily="34" charset="0"/>
                <a:cs typeface="Calibri" panose="020F0502020204030204" pitchFamily="34" charset="0"/>
                <a:sym typeface="Lobster"/>
              </a:rPr>
              <a:t> System for Water Quality and Level Monitoring</a:t>
            </a:r>
            <a:endParaRPr sz="1900" b="1" dirty="0">
              <a:solidFill>
                <a:schemeClr val="dk1"/>
              </a:solidFill>
              <a:latin typeface="Arial Black" panose="020B0A04020102020204" pitchFamily="34" charset="0"/>
              <a:ea typeface="Calibri" panose="020F0502020204030204" pitchFamily="34" charset="0"/>
              <a:cs typeface="Calibri" panose="020F0502020204030204" pitchFamily="34" charset="0"/>
              <a:sym typeface="Lobster"/>
            </a:endParaRPr>
          </a:p>
          <a:p>
            <a:pPr marL="0" lvl="0" indent="0" algn="l" rtl="0">
              <a:lnSpc>
                <a:spcPct val="115000"/>
              </a:lnSpc>
              <a:spcBef>
                <a:spcPts val="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8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3200" b="1" dirty="0">
              <a:solidFill>
                <a:schemeClr val="dk1"/>
              </a:solidFill>
              <a:latin typeface="Federo"/>
              <a:ea typeface="Federo"/>
              <a:cs typeface="Federo"/>
              <a:sym typeface="Federo"/>
            </a:endParaRPr>
          </a:p>
        </p:txBody>
      </p:sp>
      <p:sp>
        <p:nvSpPr>
          <p:cNvPr id="269" name="Google Shape;26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270" name="Google Shape;270;p1"/>
          <p:cNvSpPr txBox="1"/>
          <p:nvPr/>
        </p:nvSpPr>
        <p:spPr>
          <a:xfrm>
            <a:off x="794589" y="4783091"/>
            <a:ext cx="3032473"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Submitted by: </a:t>
            </a:r>
            <a:endParaRPr dirty="0"/>
          </a:p>
          <a:p>
            <a:pPr lvl="0"/>
            <a:r>
              <a:rPr lang="en-US" sz="2000" dirty="0">
                <a:solidFill>
                  <a:schemeClr val="dk1"/>
                </a:solidFill>
                <a:latin typeface="Times New Roman"/>
                <a:ea typeface="Times New Roman"/>
                <a:cs typeface="Times New Roman"/>
                <a:sym typeface="Times New Roman"/>
              </a:rPr>
              <a:t>Ayush (22BIT70024)</a:t>
            </a:r>
            <a:endParaRPr dirty="0"/>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Priyanshu (22BIT70063)</a:t>
            </a:r>
            <a:endParaRPr dirty="0"/>
          </a:p>
          <a:p>
            <a:pPr lvl="0"/>
            <a:r>
              <a:rPr lang="en-US" sz="2000" dirty="0">
                <a:solidFill>
                  <a:schemeClr val="dk1"/>
                </a:solidFill>
                <a:latin typeface="Times New Roman"/>
                <a:ea typeface="Times New Roman"/>
                <a:cs typeface="Times New Roman"/>
                <a:sym typeface="Times New Roman"/>
              </a:rPr>
              <a:t>Aryan (22BIT70067)</a:t>
            </a:r>
            <a:endParaRPr dirty="0"/>
          </a:p>
          <a:p>
            <a:pPr marL="0" marR="0" lvl="0" indent="0" algn="l" rtl="0">
              <a:spcBef>
                <a:spcPts val="0"/>
              </a:spcBef>
              <a:spcAft>
                <a:spcPts val="0"/>
              </a:spcAft>
              <a:buNone/>
            </a:pPr>
            <a:r>
              <a:rPr lang="en-US" sz="2000" dirty="0">
                <a:solidFill>
                  <a:schemeClr val="dk1"/>
                </a:solidFill>
                <a:latin typeface="Times New Roman"/>
                <a:ea typeface="Times New Roman"/>
                <a:cs typeface="Times New Roman"/>
                <a:sym typeface="Times New Roman"/>
              </a:rPr>
              <a:t>Amrit (22BIT70068)</a:t>
            </a:r>
            <a:endParaRPr dirty="0"/>
          </a:p>
        </p:txBody>
      </p:sp>
      <p:sp>
        <p:nvSpPr>
          <p:cNvPr id="271" name="Google Shape;271;p1"/>
          <p:cNvSpPr txBox="1"/>
          <p:nvPr/>
        </p:nvSpPr>
        <p:spPr>
          <a:xfrm>
            <a:off x="7378172" y="5232283"/>
            <a:ext cx="3619438" cy="10156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Under the Supervision of: </a:t>
            </a:r>
            <a:br>
              <a:rPr lang="en-US" sz="2000" b="1" dirty="0">
                <a:solidFill>
                  <a:schemeClr val="dk1"/>
                </a:solidFill>
                <a:latin typeface="Times New Roman"/>
                <a:ea typeface="Times New Roman"/>
                <a:cs typeface="Times New Roman"/>
                <a:sym typeface="Times New Roman"/>
              </a:rPr>
            </a:br>
            <a:r>
              <a:rPr lang="en-US" sz="2000" b="1" dirty="0">
                <a:solidFill>
                  <a:schemeClr val="dk1"/>
                </a:solidFill>
                <a:latin typeface="Times New Roman"/>
                <a:ea typeface="Times New Roman"/>
                <a:cs typeface="Times New Roman"/>
                <a:sym typeface="Times New Roman"/>
              </a:rPr>
              <a:t>Er. Tejinder Pal Singh</a:t>
            </a:r>
          </a:p>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(E16552)</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
          <p:cNvSpPr txBox="1">
            <a:spLocks noGrp="1"/>
          </p:cNvSpPr>
          <p:nvPr>
            <p:ph type="title"/>
          </p:nvPr>
        </p:nvSpPr>
        <p:spPr>
          <a:xfrm>
            <a:off x="885676" y="365126"/>
            <a:ext cx="10515600" cy="97620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Outline</a:t>
            </a:r>
            <a:endParaRPr/>
          </a:p>
        </p:txBody>
      </p:sp>
      <p:sp>
        <p:nvSpPr>
          <p:cNvPr id="277" name="Google Shape;277;p2"/>
          <p:cNvSpPr txBox="1">
            <a:spLocks noGrp="1"/>
          </p:cNvSpPr>
          <p:nvPr>
            <p:ph type="body" idx="1"/>
          </p:nvPr>
        </p:nvSpPr>
        <p:spPr>
          <a:xfrm>
            <a:off x="838200" y="1588220"/>
            <a:ext cx="10515600" cy="495225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Introduction to Project</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Problem Formulation</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Objectives of the work</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Hardware  requirement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Methodology to be used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Literature Review </a:t>
            </a: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Conclusion</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Future Scope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References</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278" name="Google Shape;27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
          <p:cNvSpPr txBox="1">
            <a:spLocks noGrp="1"/>
          </p:cNvSpPr>
          <p:nvPr>
            <p:ph type="title"/>
          </p:nvPr>
        </p:nvSpPr>
        <p:spPr>
          <a:xfrm>
            <a:off x="838200" y="183197"/>
            <a:ext cx="10515600" cy="94580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Introduction to </a:t>
            </a:r>
            <a:r>
              <a:rPr lang="en-US" b="1" dirty="0" err="1">
                <a:latin typeface="Times New Roman"/>
                <a:ea typeface="Times New Roman"/>
                <a:cs typeface="Times New Roman"/>
                <a:sym typeface="Times New Roman"/>
              </a:rPr>
              <a:t>HydroGuard</a:t>
            </a:r>
            <a:endParaRPr b="1" dirty="0">
              <a:latin typeface="Times New Roman"/>
              <a:ea typeface="Times New Roman"/>
              <a:cs typeface="Times New Roman"/>
              <a:sym typeface="Times New Roman"/>
            </a:endParaRPr>
          </a:p>
        </p:txBody>
      </p:sp>
      <p:sp>
        <p:nvSpPr>
          <p:cNvPr id="284" name="Google Shape;284;p3"/>
          <p:cNvSpPr txBox="1">
            <a:spLocks noGrp="1"/>
          </p:cNvSpPr>
          <p:nvPr>
            <p:ph type="body" idx="1"/>
          </p:nvPr>
        </p:nvSpPr>
        <p:spPr>
          <a:xfrm>
            <a:off x="390330" y="1231641"/>
            <a:ext cx="11411339" cy="548983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600"/>
              <a:buNone/>
            </a:pPr>
            <a:r>
              <a:rPr lang="en-US" sz="2600" dirty="0" err="1">
                <a:latin typeface="Times New Roman"/>
                <a:ea typeface="Times New Roman"/>
                <a:cs typeface="Times New Roman"/>
                <a:sym typeface="Times New Roman"/>
              </a:rPr>
              <a:t>HydroGuard</a:t>
            </a:r>
            <a:r>
              <a:rPr lang="en-US" sz="2600" dirty="0">
                <a:latin typeface="Times New Roman"/>
                <a:ea typeface="Times New Roman"/>
                <a:cs typeface="Times New Roman"/>
                <a:sym typeface="Times New Roman"/>
              </a:rPr>
              <a:t> is an Artificial Intelligence of Things (</a:t>
            </a:r>
            <a:r>
              <a:rPr lang="en-US" sz="2600" dirty="0" err="1">
                <a:latin typeface="Times New Roman"/>
                <a:ea typeface="Times New Roman"/>
                <a:cs typeface="Times New Roman"/>
                <a:sym typeface="Times New Roman"/>
              </a:rPr>
              <a:t>AIoT</a:t>
            </a:r>
            <a:r>
              <a:rPr lang="en-US" sz="2600" dirty="0">
                <a:latin typeface="Times New Roman"/>
                <a:ea typeface="Times New Roman"/>
                <a:cs typeface="Times New Roman"/>
                <a:sym typeface="Times New Roman"/>
              </a:rPr>
              <a:t>) cloud-controlled system designed for continuous monitoring of water quality and water levels.​</a:t>
            </a:r>
            <a:endParaRPr dirty="0"/>
          </a:p>
          <a:p>
            <a:pPr marL="0" lvl="0" indent="0" algn="just" rtl="0">
              <a:lnSpc>
                <a:spcPct val="90000"/>
              </a:lnSpc>
              <a:spcBef>
                <a:spcPts val="1000"/>
              </a:spcBef>
              <a:spcAft>
                <a:spcPts val="0"/>
              </a:spcAft>
              <a:buClr>
                <a:schemeClr val="dk1"/>
              </a:buClr>
              <a:buSzPts val="2600"/>
              <a:buNone/>
            </a:pPr>
            <a:r>
              <a:rPr lang="en-US" sz="2600" b="1" dirty="0">
                <a:latin typeface="Times New Roman"/>
                <a:ea typeface="Times New Roman"/>
                <a:cs typeface="Times New Roman"/>
                <a:sym typeface="Times New Roman"/>
              </a:rPr>
              <a:t>Global Water Crisis:</a:t>
            </a:r>
            <a:endParaRPr dirty="0"/>
          </a:p>
          <a:p>
            <a:pPr marL="685800" lvl="1" indent="-228600" algn="just" rtl="0">
              <a:lnSpc>
                <a:spcPct val="90000"/>
              </a:lnSpc>
              <a:spcBef>
                <a:spcPts val="500"/>
              </a:spcBef>
              <a:spcAft>
                <a:spcPts val="0"/>
              </a:spcAft>
              <a:buClr>
                <a:schemeClr val="dk1"/>
              </a:buClr>
              <a:buSzPts val="2600"/>
              <a:buChar char="•"/>
            </a:pPr>
            <a:r>
              <a:rPr lang="en-US" sz="2600" dirty="0">
                <a:latin typeface="Times New Roman"/>
                <a:ea typeface="Times New Roman"/>
                <a:cs typeface="Times New Roman"/>
                <a:sym typeface="Times New Roman"/>
              </a:rPr>
              <a:t>Over 2 billion people worldwide lack access to safe water​</a:t>
            </a:r>
            <a:endParaRPr dirty="0"/>
          </a:p>
          <a:p>
            <a:pPr marL="685800" lvl="1" indent="-228600" algn="just" rtl="0">
              <a:lnSpc>
                <a:spcPct val="90000"/>
              </a:lnSpc>
              <a:spcBef>
                <a:spcPts val="500"/>
              </a:spcBef>
              <a:spcAft>
                <a:spcPts val="0"/>
              </a:spcAft>
              <a:buClr>
                <a:schemeClr val="dk1"/>
              </a:buClr>
              <a:buSzPts val="2600"/>
              <a:buChar char="•"/>
            </a:pPr>
            <a:r>
              <a:rPr lang="en-US" sz="2600" dirty="0">
                <a:latin typeface="Times New Roman"/>
                <a:ea typeface="Times New Roman"/>
                <a:cs typeface="Times New Roman"/>
                <a:sym typeface="Times New Roman"/>
              </a:rPr>
              <a:t>Water contamination from industrial and agricultural activities is worsening​</a:t>
            </a:r>
            <a:endParaRPr dirty="0"/>
          </a:p>
          <a:p>
            <a:pPr marL="685800" lvl="1" indent="-228600" algn="just" rtl="0">
              <a:lnSpc>
                <a:spcPct val="90000"/>
              </a:lnSpc>
              <a:spcBef>
                <a:spcPts val="500"/>
              </a:spcBef>
              <a:spcAft>
                <a:spcPts val="0"/>
              </a:spcAft>
              <a:buClr>
                <a:schemeClr val="dk1"/>
              </a:buClr>
              <a:buSzPts val="2600"/>
              <a:buChar char="•"/>
            </a:pPr>
            <a:r>
              <a:rPr lang="en-US" sz="2600" dirty="0">
                <a:latin typeface="Times New Roman"/>
                <a:ea typeface="Times New Roman"/>
                <a:cs typeface="Times New Roman"/>
                <a:sym typeface="Times New Roman"/>
              </a:rPr>
              <a:t>Floods, scarcity, and pollution endanger ecology, human health, and development​</a:t>
            </a:r>
            <a:endParaRPr dirty="0"/>
          </a:p>
          <a:p>
            <a:pPr marL="0" lvl="0" indent="0" algn="just" rtl="0">
              <a:lnSpc>
                <a:spcPct val="90000"/>
              </a:lnSpc>
              <a:spcBef>
                <a:spcPts val="1000"/>
              </a:spcBef>
              <a:spcAft>
                <a:spcPts val="0"/>
              </a:spcAft>
              <a:buClr>
                <a:schemeClr val="dk1"/>
              </a:buClr>
              <a:buSzPts val="2600"/>
              <a:buNone/>
            </a:pPr>
            <a:r>
              <a:rPr lang="en-US" sz="2600" b="1" dirty="0">
                <a:latin typeface="Times New Roman"/>
                <a:ea typeface="Times New Roman"/>
                <a:cs typeface="Times New Roman"/>
                <a:sym typeface="Times New Roman"/>
              </a:rPr>
              <a:t>Why </a:t>
            </a:r>
            <a:r>
              <a:rPr lang="en-US" sz="2600" b="1" dirty="0" err="1">
                <a:latin typeface="Times New Roman"/>
                <a:ea typeface="Times New Roman"/>
                <a:cs typeface="Times New Roman"/>
                <a:sym typeface="Times New Roman"/>
              </a:rPr>
              <a:t>HydroGuard</a:t>
            </a:r>
            <a:r>
              <a:rPr lang="en-US" sz="2600" b="1" dirty="0">
                <a:latin typeface="Times New Roman"/>
                <a:ea typeface="Times New Roman"/>
                <a:cs typeface="Times New Roman"/>
                <a:sym typeface="Times New Roman"/>
              </a:rPr>
              <a:t>?</a:t>
            </a:r>
            <a:endParaRPr dirty="0"/>
          </a:p>
          <a:p>
            <a:pPr marL="685800" lvl="1" indent="-228600" algn="just" rtl="0">
              <a:lnSpc>
                <a:spcPct val="90000"/>
              </a:lnSpc>
              <a:spcBef>
                <a:spcPts val="500"/>
              </a:spcBef>
              <a:spcAft>
                <a:spcPts val="0"/>
              </a:spcAft>
              <a:buClr>
                <a:schemeClr val="dk1"/>
              </a:buClr>
              <a:buSzPts val="2600"/>
              <a:buChar char="•"/>
            </a:pPr>
            <a:r>
              <a:rPr lang="en-US" sz="2600" dirty="0">
                <a:latin typeface="Times New Roman"/>
                <a:ea typeface="Times New Roman"/>
                <a:cs typeface="Times New Roman"/>
                <a:sym typeface="Times New Roman"/>
              </a:rPr>
              <a:t>Traditional manual sampling and laboratory testing are time-consuming and inefficient​</a:t>
            </a:r>
            <a:endParaRPr dirty="0"/>
          </a:p>
          <a:p>
            <a:pPr marL="685800" lvl="1" indent="-228600" algn="just" rtl="0">
              <a:lnSpc>
                <a:spcPct val="90000"/>
              </a:lnSpc>
              <a:spcBef>
                <a:spcPts val="500"/>
              </a:spcBef>
              <a:spcAft>
                <a:spcPts val="0"/>
              </a:spcAft>
              <a:buClr>
                <a:schemeClr val="dk1"/>
              </a:buClr>
              <a:buSzPts val="2600"/>
              <a:buChar char="•"/>
            </a:pPr>
            <a:r>
              <a:rPr lang="en-US" sz="2600" dirty="0">
                <a:latin typeface="Times New Roman"/>
                <a:ea typeface="Times New Roman"/>
                <a:cs typeface="Times New Roman"/>
                <a:sym typeface="Times New Roman"/>
              </a:rPr>
              <a:t>Cannot provide 24/7 intelligent surveillance needed for timely responses​</a:t>
            </a:r>
            <a:endParaRPr dirty="0"/>
          </a:p>
          <a:p>
            <a:pPr marL="685800" lvl="1" indent="-228600" algn="just" rtl="0">
              <a:lnSpc>
                <a:spcPct val="90000"/>
              </a:lnSpc>
              <a:spcBef>
                <a:spcPts val="500"/>
              </a:spcBef>
              <a:spcAft>
                <a:spcPts val="0"/>
              </a:spcAft>
              <a:buClr>
                <a:schemeClr val="dk1"/>
              </a:buClr>
              <a:buSzPts val="2600"/>
              <a:buChar char="•"/>
            </a:pPr>
            <a:r>
              <a:rPr lang="en-US" sz="2600" dirty="0">
                <a:latin typeface="Times New Roman"/>
                <a:ea typeface="Times New Roman"/>
                <a:cs typeface="Times New Roman"/>
                <a:sym typeface="Times New Roman"/>
              </a:rPr>
              <a:t>Real-time monitoring is essential for proactive water resource management</a:t>
            </a:r>
            <a:endParaRPr dirty="0"/>
          </a:p>
          <a:p>
            <a:pPr marL="228600" lvl="0" indent="-63500" algn="just" rtl="0">
              <a:lnSpc>
                <a:spcPct val="90000"/>
              </a:lnSpc>
              <a:spcBef>
                <a:spcPts val="1000"/>
              </a:spcBef>
              <a:spcAft>
                <a:spcPts val="0"/>
              </a:spcAft>
              <a:buClr>
                <a:schemeClr val="dk1"/>
              </a:buClr>
              <a:buSzPts val="2600"/>
              <a:buNone/>
            </a:pPr>
            <a:endParaRPr sz="2600" b="0" i="0" dirty="0">
              <a:latin typeface="Times New Roman"/>
              <a:ea typeface="Times New Roman"/>
              <a:cs typeface="Times New Roman"/>
              <a:sym typeface="Times New Roman"/>
            </a:endParaRPr>
          </a:p>
        </p:txBody>
      </p:sp>
      <p:sp>
        <p:nvSpPr>
          <p:cNvPr id="285" name="Google Shape;28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
          <p:cNvSpPr txBox="1">
            <a:spLocks noGrp="1"/>
          </p:cNvSpPr>
          <p:nvPr>
            <p:ph type="title"/>
          </p:nvPr>
        </p:nvSpPr>
        <p:spPr>
          <a:xfrm>
            <a:off x="838200" y="136526"/>
            <a:ext cx="10515600" cy="98314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Problem Formulation</a:t>
            </a:r>
            <a:endParaRPr/>
          </a:p>
        </p:txBody>
      </p:sp>
      <p:sp>
        <p:nvSpPr>
          <p:cNvPr id="291" name="Google Shape;291;p4"/>
          <p:cNvSpPr txBox="1">
            <a:spLocks noGrp="1"/>
          </p:cNvSpPr>
          <p:nvPr>
            <p:ph type="body" idx="1"/>
          </p:nvPr>
        </p:nvSpPr>
        <p:spPr>
          <a:xfrm>
            <a:off x="447869" y="1362270"/>
            <a:ext cx="10905931" cy="463731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600"/>
              <a:buNone/>
            </a:pPr>
            <a:r>
              <a:rPr lang="en-US" sz="2600">
                <a:latin typeface="Times New Roman"/>
                <a:ea typeface="Times New Roman"/>
                <a:cs typeface="Times New Roman"/>
                <a:sym typeface="Times New Roman"/>
              </a:rPr>
              <a:t>Challenges in Traditional Water Monitoring:​</a:t>
            </a:r>
            <a:endParaRPr/>
          </a:p>
          <a:p>
            <a:pPr marL="685800" lvl="1" indent="-228600" algn="just" rtl="0">
              <a:lnSpc>
                <a:spcPct val="90000"/>
              </a:lnSpc>
              <a:spcBef>
                <a:spcPts val="500"/>
              </a:spcBef>
              <a:spcAft>
                <a:spcPts val="0"/>
              </a:spcAft>
              <a:buClr>
                <a:schemeClr val="dk1"/>
              </a:buClr>
              <a:buSzPts val="2600"/>
              <a:buChar char="•"/>
            </a:pPr>
            <a:r>
              <a:rPr lang="en-US" sz="2600" b="1">
                <a:latin typeface="Times New Roman"/>
                <a:ea typeface="Times New Roman"/>
                <a:cs typeface="Times New Roman"/>
                <a:sym typeface="Times New Roman"/>
              </a:rPr>
              <a:t>Manual Sampling Limitations: </a:t>
            </a:r>
            <a:r>
              <a:rPr lang="en-US" sz="2600">
                <a:latin typeface="Times New Roman"/>
                <a:ea typeface="Times New Roman"/>
                <a:cs typeface="Times New Roman"/>
                <a:sym typeface="Times New Roman"/>
              </a:rPr>
              <a:t>Labor-intensive, cumbersome processes that cannot deliver real-time data​</a:t>
            </a:r>
            <a:endParaRPr/>
          </a:p>
          <a:p>
            <a:pPr marL="685800" lvl="1" indent="-228600" algn="just" rtl="0">
              <a:lnSpc>
                <a:spcPct val="90000"/>
              </a:lnSpc>
              <a:spcBef>
                <a:spcPts val="500"/>
              </a:spcBef>
              <a:spcAft>
                <a:spcPts val="0"/>
              </a:spcAft>
              <a:buClr>
                <a:schemeClr val="dk1"/>
              </a:buClr>
              <a:buSzPts val="2600"/>
              <a:buChar char="•"/>
            </a:pPr>
            <a:r>
              <a:rPr lang="en-US" sz="2600" b="1">
                <a:latin typeface="Times New Roman"/>
                <a:ea typeface="Times New Roman"/>
                <a:cs typeface="Times New Roman"/>
                <a:sym typeface="Times New Roman"/>
              </a:rPr>
              <a:t>Delayed Response: </a:t>
            </a:r>
            <a:r>
              <a:rPr lang="en-US" sz="2600">
                <a:latin typeface="Times New Roman"/>
                <a:ea typeface="Times New Roman"/>
                <a:cs typeface="Times New Roman"/>
                <a:sym typeface="Times New Roman"/>
              </a:rPr>
              <a:t>Laboratory-based detection methods fail to provide timely alerts for contamination events​</a:t>
            </a:r>
            <a:endParaRPr/>
          </a:p>
          <a:p>
            <a:pPr marL="685800" lvl="1" indent="-228600" algn="just" rtl="0">
              <a:lnSpc>
                <a:spcPct val="90000"/>
              </a:lnSpc>
              <a:spcBef>
                <a:spcPts val="500"/>
              </a:spcBef>
              <a:spcAft>
                <a:spcPts val="0"/>
              </a:spcAft>
              <a:buClr>
                <a:schemeClr val="dk1"/>
              </a:buClr>
              <a:buSzPts val="2600"/>
              <a:buChar char="•"/>
            </a:pPr>
            <a:r>
              <a:rPr lang="en-US" sz="2600" b="1">
                <a:latin typeface="Times New Roman"/>
                <a:ea typeface="Times New Roman"/>
                <a:cs typeface="Times New Roman"/>
                <a:sym typeface="Times New Roman"/>
              </a:rPr>
              <a:t>Scalability Issues: </a:t>
            </a:r>
            <a:r>
              <a:rPr lang="en-US" sz="2600">
                <a:latin typeface="Times New Roman"/>
                <a:ea typeface="Times New Roman"/>
                <a:cs typeface="Times New Roman"/>
                <a:sym typeface="Times New Roman"/>
              </a:rPr>
              <a:t>Existing IoT systems suffer from latency, poor connectivity, and limited deployment capabilities​</a:t>
            </a:r>
            <a:endParaRPr/>
          </a:p>
          <a:p>
            <a:pPr marL="685800" lvl="1" indent="-228600" algn="just" rtl="0">
              <a:lnSpc>
                <a:spcPct val="90000"/>
              </a:lnSpc>
              <a:spcBef>
                <a:spcPts val="500"/>
              </a:spcBef>
              <a:spcAft>
                <a:spcPts val="0"/>
              </a:spcAft>
              <a:buClr>
                <a:schemeClr val="dk1"/>
              </a:buClr>
              <a:buSzPts val="2600"/>
              <a:buChar char="•"/>
            </a:pPr>
            <a:r>
              <a:rPr lang="en-US" sz="2600" b="1">
                <a:latin typeface="Times New Roman"/>
                <a:ea typeface="Times New Roman"/>
                <a:cs typeface="Times New Roman"/>
                <a:sym typeface="Times New Roman"/>
              </a:rPr>
              <a:t>Lack of Intelligence: </a:t>
            </a:r>
            <a:r>
              <a:rPr lang="en-US" sz="2600">
                <a:latin typeface="Times New Roman"/>
                <a:ea typeface="Times New Roman"/>
                <a:cs typeface="Times New Roman"/>
                <a:sym typeface="Times New Roman"/>
              </a:rPr>
              <a:t>Most systems only focus on data storage and visualization without predictive analytics​</a:t>
            </a:r>
            <a:endParaRPr/>
          </a:p>
          <a:p>
            <a:pPr marL="685800" lvl="1" indent="-228600" algn="just" rtl="0">
              <a:lnSpc>
                <a:spcPct val="90000"/>
              </a:lnSpc>
              <a:spcBef>
                <a:spcPts val="500"/>
              </a:spcBef>
              <a:spcAft>
                <a:spcPts val="0"/>
              </a:spcAft>
              <a:buClr>
                <a:schemeClr val="dk1"/>
              </a:buClr>
              <a:buSzPts val="2600"/>
              <a:buChar char="•"/>
            </a:pPr>
            <a:r>
              <a:rPr lang="en-US" sz="2600" b="1">
                <a:latin typeface="Times New Roman"/>
                <a:ea typeface="Times New Roman"/>
                <a:cs typeface="Times New Roman"/>
                <a:sym typeface="Times New Roman"/>
              </a:rPr>
              <a:t>Fragmented Solutions: </a:t>
            </a:r>
            <a:r>
              <a:rPr lang="en-US" sz="2600">
                <a:latin typeface="Times New Roman"/>
                <a:ea typeface="Times New Roman"/>
                <a:cs typeface="Times New Roman"/>
                <a:sym typeface="Times New Roman"/>
              </a:rPr>
              <a:t>IoT, cloud computing, and AI technologies exist separately rather than as integrated solutions</a:t>
            </a:r>
            <a:endParaRPr/>
          </a:p>
          <a:p>
            <a:pPr marL="228600" lvl="0" indent="-63500" algn="just" rtl="0">
              <a:lnSpc>
                <a:spcPct val="90000"/>
              </a:lnSpc>
              <a:spcBef>
                <a:spcPts val="1000"/>
              </a:spcBef>
              <a:spcAft>
                <a:spcPts val="0"/>
              </a:spcAft>
              <a:buClr>
                <a:schemeClr val="dk1"/>
              </a:buClr>
              <a:buSzPts val="2600"/>
              <a:buNone/>
            </a:pPr>
            <a:endParaRPr sz="2600">
              <a:latin typeface="Times New Roman"/>
              <a:ea typeface="Times New Roman"/>
              <a:cs typeface="Times New Roman"/>
              <a:sym typeface="Times New Roman"/>
            </a:endParaRPr>
          </a:p>
        </p:txBody>
      </p:sp>
      <p:sp>
        <p:nvSpPr>
          <p:cNvPr id="292" name="Google Shape;29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
          <p:cNvSpPr txBox="1">
            <a:spLocks noGrp="1"/>
          </p:cNvSpPr>
          <p:nvPr>
            <p:ph type="title"/>
          </p:nvPr>
        </p:nvSpPr>
        <p:spPr>
          <a:xfrm>
            <a:off x="838200" y="136525"/>
            <a:ext cx="10515600" cy="102047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Objectives of the Work</a:t>
            </a:r>
            <a:endParaRPr/>
          </a:p>
        </p:txBody>
      </p:sp>
      <p:sp>
        <p:nvSpPr>
          <p:cNvPr id="298" name="Google Shape;298;p5"/>
          <p:cNvSpPr txBox="1">
            <a:spLocks noGrp="1"/>
          </p:cNvSpPr>
          <p:nvPr>
            <p:ph type="body" idx="1"/>
          </p:nvPr>
        </p:nvSpPr>
        <p:spPr>
          <a:xfrm>
            <a:off x="438539" y="1306286"/>
            <a:ext cx="10915261" cy="5261567"/>
          </a:xfrm>
          <a:prstGeom prst="rect">
            <a:avLst/>
          </a:prstGeom>
          <a:noFill/>
          <a:ln>
            <a:noFill/>
          </a:ln>
        </p:spPr>
        <p:txBody>
          <a:bodyPr spcFirstLastPara="1" wrap="square" lIns="91425" tIns="45700" rIns="91425" bIns="45700" anchor="t" anchorCtr="0">
            <a:normAutofit/>
          </a:bodyPr>
          <a:lstStyle/>
          <a:p>
            <a:pPr marL="514350" lvl="0" indent="-514350" algn="just" rtl="0">
              <a:lnSpc>
                <a:spcPct val="90000"/>
              </a:lnSpc>
              <a:spcBef>
                <a:spcPts val="0"/>
              </a:spcBef>
              <a:spcAft>
                <a:spcPts val="0"/>
              </a:spcAft>
              <a:buClr>
                <a:schemeClr val="dk1"/>
              </a:buClr>
              <a:buSzPts val="2600"/>
              <a:buFont typeface="Calibri"/>
              <a:buAutoNum type="arabicPeriod"/>
            </a:pPr>
            <a:r>
              <a:rPr lang="en-US" sz="2600" b="1">
                <a:latin typeface="Times New Roman"/>
                <a:ea typeface="Times New Roman"/>
                <a:cs typeface="Times New Roman"/>
                <a:sym typeface="Times New Roman"/>
              </a:rPr>
              <a:t>Real-time Monitoring: </a:t>
            </a:r>
            <a:r>
              <a:rPr lang="en-US" sz="2600">
                <a:latin typeface="Times New Roman"/>
                <a:ea typeface="Times New Roman"/>
                <a:cs typeface="Times New Roman"/>
                <a:sym typeface="Times New Roman"/>
              </a:rPr>
              <a:t>Monitor critical water parameters (pH, turbidity, temperature, dissolved oxygen, water levels) continuously​</a:t>
            </a:r>
            <a:endParaRPr/>
          </a:p>
          <a:p>
            <a:pPr marL="514350" lvl="0" indent="-514350" algn="just" rtl="0">
              <a:lnSpc>
                <a:spcPct val="90000"/>
              </a:lnSpc>
              <a:spcBef>
                <a:spcPts val="1000"/>
              </a:spcBef>
              <a:spcAft>
                <a:spcPts val="0"/>
              </a:spcAft>
              <a:buClr>
                <a:schemeClr val="dk1"/>
              </a:buClr>
              <a:buSzPts val="2600"/>
              <a:buFont typeface="Calibri"/>
              <a:buAutoNum type="arabicPeriod"/>
            </a:pPr>
            <a:r>
              <a:rPr lang="en-US" sz="2600" b="1">
                <a:latin typeface="Times New Roman"/>
                <a:ea typeface="Times New Roman"/>
                <a:cs typeface="Times New Roman"/>
                <a:sym typeface="Times New Roman"/>
              </a:rPr>
              <a:t>Cloud Integration: </a:t>
            </a:r>
            <a:r>
              <a:rPr lang="en-US" sz="2600">
                <a:latin typeface="Times New Roman"/>
                <a:ea typeface="Times New Roman"/>
                <a:cs typeface="Times New Roman"/>
                <a:sym typeface="Times New Roman"/>
              </a:rPr>
              <a:t>Enable secure data storage, large-scale analytics, and remote accessibility​</a:t>
            </a:r>
            <a:endParaRPr/>
          </a:p>
          <a:p>
            <a:pPr marL="514350" lvl="0" indent="-514350" algn="just" rtl="0">
              <a:lnSpc>
                <a:spcPct val="90000"/>
              </a:lnSpc>
              <a:spcBef>
                <a:spcPts val="1000"/>
              </a:spcBef>
              <a:spcAft>
                <a:spcPts val="0"/>
              </a:spcAft>
              <a:buClr>
                <a:schemeClr val="dk1"/>
              </a:buClr>
              <a:buSzPts val="2600"/>
              <a:buFont typeface="Calibri"/>
              <a:buAutoNum type="arabicPeriod"/>
            </a:pPr>
            <a:r>
              <a:rPr lang="en-US" sz="2600" b="1">
                <a:latin typeface="Times New Roman"/>
                <a:ea typeface="Times New Roman"/>
                <a:cs typeface="Times New Roman"/>
                <a:sym typeface="Times New Roman"/>
              </a:rPr>
              <a:t>AI-Driven Intelligence: </a:t>
            </a:r>
            <a:r>
              <a:rPr lang="en-US" sz="2600">
                <a:latin typeface="Times New Roman"/>
                <a:ea typeface="Times New Roman"/>
                <a:cs typeface="Times New Roman"/>
                <a:sym typeface="Times New Roman"/>
              </a:rPr>
              <a:t>Implement machine learning algorithms for anomaly detection and predictive maintenance​</a:t>
            </a:r>
            <a:endParaRPr/>
          </a:p>
          <a:p>
            <a:pPr marL="514350" lvl="0" indent="-514350" algn="just" rtl="0">
              <a:lnSpc>
                <a:spcPct val="90000"/>
              </a:lnSpc>
              <a:spcBef>
                <a:spcPts val="1000"/>
              </a:spcBef>
              <a:spcAft>
                <a:spcPts val="0"/>
              </a:spcAft>
              <a:buClr>
                <a:schemeClr val="dk1"/>
              </a:buClr>
              <a:buSzPts val="2600"/>
              <a:buFont typeface="Calibri"/>
              <a:buAutoNum type="arabicPeriod"/>
            </a:pPr>
            <a:r>
              <a:rPr lang="en-US" sz="2600" b="1">
                <a:latin typeface="Times New Roman"/>
                <a:ea typeface="Times New Roman"/>
                <a:cs typeface="Times New Roman"/>
                <a:sym typeface="Times New Roman"/>
              </a:rPr>
              <a:t>Scalable Architecture: </a:t>
            </a:r>
            <a:r>
              <a:rPr lang="en-US" sz="2600">
                <a:latin typeface="Times New Roman"/>
                <a:ea typeface="Times New Roman"/>
                <a:cs typeface="Times New Roman"/>
                <a:sym typeface="Times New Roman"/>
              </a:rPr>
              <a:t>Create an AIoT-ready system that can be deployed across different water bodies​</a:t>
            </a:r>
            <a:endParaRPr/>
          </a:p>
          <a:p>
            <a:pPr marL="514350" lvl="0" indent="-514350" algn="just" rtl="0">
              <a:lnSpc>
                <a:spcPct val="90000"/>
              </a:lnSpc>
              <a:spcBef>
                <a:spcPts val="1000"/>
              </a:spcBef>
              <a:spcAft>
                <a:spcPts val="0"/>
              </a:spcAft>
              <a:buClr>
                <a:schemeClr val="dk1"/>
              </a:buClr>
              <a:buSzPts val="2600"/>
              <a:buFont typeface="Calibri"/>
              <a:buAutoNum type="arabicPeriod"/>
            </a:pPr>
            <a:r>
              <a:rPr lang="en-US" sz="2600" b="1">
                <a:latin typeface="Times New Roman"/>
                <a:ea typeface="Times New Roman"/>
                <a:cs typeface="Times New Roman"/>
                <a:sym typeface="Times New Roman"/>
              </a:rPr>
              <a:t>Interactive Dashboard: </a:t>
            </a:r>
            <a:r>
              <a:rPr lang="en-US" sz="2600">
                <a:latin typeface="Times New Roman"/>
                <a:ea typeface="Times New Roman"/>
                <a:cs typeface="Times New Roman"/>
                <a:sym typeface="Times New Roman"/>
              </a:rPr>
              <a:t>Develop visualization tools with real-time notifications for stakeholders​</a:t>
            </a:r>
            <a:endParaRPr/>
          </a:p>
          <a:p>
            <a:pPr marL="514350" lvl="0" indent="-514350" algn="just" rtl="0">
              <a:lnSpc>
                <a:spcPct val="90000"/>
              </a:lnSpc>
              <a:spcBef>
                <a:spcPts val="1000"/>
              </a:spcBef>
              <a:spcAft>
                <a:spcPts val="0"/>
              </a:spcAft>
              <a:buClr>
                <a:schemeClr val="dk1"/>
              </a:buClr>
              <a:buSzPts val="2600"/>
              <a:buFont typeface="Calibri"/>
              <a:buAutoNum type="arabicPeriod"/>
            </a:pPr>
            <a:r>
              <a:rPr lang="en-US" sz="2600" b="1">
                <a:latin typeface="Times New Roman"/>
                <a:ea typeface="Times New Roman"/>
                <a:cs typeface="Times New Roman"/>
                <a:sym typeface="Times New Roman"/>
              </a:rPr>
              <a:t>Proactive Solution: </a:t>
            </a:r>
            <a:r>
              <a:rPr lang="en-US" sz="2600">
                <a:latin typeface="Times New Roman"/>
                <a:ea typeface="Times New Roman"/>
                <a:cs typeface="Times New Roman"/>
                <a:sym typeface="Times New Roman"/>
              </a:rPr>
              <a:t>Predict contamination events and enable timely interventions</a:t>
            </a:r>
            <a:endParaRPr/>
          </a:p>
          <a:p>
            <a:pPr marL="0" lvl="0" indent="0" algn="just" rtl="0">
              <a:lnSpc>
                <a:spcPct val="90000"/>
              </a:lnSpc>
              <a:spcBef>
                <a:spcPts val="1000"/>
              </a:spcBef>
              <a:spcAft>
                <a:spcPts val="0"/>
              </a:spcAft>
              <a:buClr>
                <a:schemeClr val="dk1"/>
              </a:buClr>
              <a:buSzPts val="2600"/>
              <a:buNone/>
            </a:pPr>
            <a:endParaRPr sz="2600">
              <a:latin typeface="Times New Roman"/>
              <a:ea typeface="Times New Roman"/>
              <a:cs typeface="Times New Roman"/>
              <a:sym typeface="Times New Roman"/>
            </a:endParaRPr>
          </a:p>
        </p:txBody>
      </p:sp>
      <p:sp>
        <p:nvSpPr>
          <p:cNvPr id="299" name="Google Shape;29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6"/>
          <p:cNvSpPr txBox="1">
            <a:spLocks noGrp="1"/>
          </p:cNvSpPr>
          <p:nvPr>
            <p:ph type="title"/>
          </p:nvPr>
        </p:nvSpPr>
        <p:spPr>
          <a:xfrm>
            <a:off x="838200" y="136525"/>
            <a:ext cx="10515600" cy="9924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Hardware requirement</a:t>
            </a:r>
            <a:endParaRPr/>
          </a:p>
        </p:txBody>
      </p:sp>
      <p:sp>
        <p:nvSpPr>
          <p:cNvPr id="305" name="Google Shape;305;p6"/>
          <p:cNvSpPr txBox="1">
            <a:spLocks noGrp="1"/>
          </p:cNvSpPr>
          <p:nvPr>
            <p:ph type="body" idx="1"/>
          </p:nvPr>
        </p:nvSpPr>
        <p:spPr>
          <a:xfrm>
            <a:off x="502298" y="1258513"/>
            <a:ext cx="10515600" cy="21704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None/>
            </a:pPr>
            <a:r>
              <a:rPr lang="en-US" sz="3600">
                <a:latin typeface="Times New Roman"/>
                <a:ea typeface="Times New Roman"/>
                <a:cs typeface="Times New Roman"/>
                <a:sym typeface="Times New Roman"/>
              </a:rPr>
              <a:t>Sensors:​</a:t>
            </a:r>
            <a:endParaRPr/>
          </a:p>
          <a:p>
            <a:pPr marL="228600" lvl="0" indent="-228600" algn="l"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pH Sensor: Measures water acidity/alkalinity</a:t>
            </a:r>
            <a:endParaRPr/>
          </a:p>
          <a:p>
            <a:pPr marL="228600" lvl="0" indent="-228600" algn="l"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Turbidity Sensor: Detects suspended particles and water clarity</a:t>
            </a:r>
            <a:endParaRPr/>
          </a:p>
          <a:p>
            <a:pPr marL="228600" lvl="0" indent="-228600" algn="l"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Temperature Sensor (DS18B20/LM35): Monitors thermal fluctuations</a:t>
            </a:r>
            <a:endParaRPr/>
          </a:p>
        </p:txBody>
      </p:sp>
      <p:sp>
        <p:nvSpPr>
          <p:cNvPr id="306" name="Google Shape;30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307" name="Google Shape;307;p6"/>
          <p:cNvPicPr preferRelativeResize="0"/>
          <p:nvPr/>
        </p:nvPicPr>
        <p:blipFill rotWithShape="1">
          <a:blip r:embed="rId3">
            <a:alphaModFix/>
          </a:blip>
          <a:srcRect/>
          <a:stretch/>
        </p:blipFill>
        <p:spPr>
          <a:xfrm>
            <a:off x="8040715" y="3891067"/>
            <a:ext cx="3453882" cy="2280617"/>
          </a:xfrm>
          <a:prstGeom prst="rect">
            <a:avLst/>
          </a:prstGeom>
          <a:noFill/>
          <a:ln>
            <a:noFill/>
          </a:ln>
        </p:spPr>
      </p:pic>
      <p:pic>
        <p:nvPicPr>
          <p:cNvPr id="308" name="Google Shape;308;p6"/>
          <p:cNvPicPr preferRelativeResize="0"/>
          <p:nvPr/>
        </p:nvPicPr>
        <p:blipFill rotWithShape="1">
          <a:blip r:embed="rId4">
            <a:alphaModFix/>
          </a:blip>
          <a:srcRect/>
          <a:stretch/>
        </p:blipFill>
        <p:spPr>
          <a:xfrm>
            <a:off x="697403" y="3848102"/>
            <a:ext cx="2280617" cy="2280617"/>
          </a:xfrm>
          <a:prstGeom prst="rect">
            <a:avLst/>
          </a:prstGeom>
          <a:noFill/>
          <a:ln>
            <a:noFill/>
          </a:ln>
        </p:spPr>
      </p:pic>
      <p:pic>
        <p:nvPicPr>
          <p:cNvPr id="309" name="Google Shape;309;p6"/>
          <p:cNvPicPr preferRelativeResize="0"/>
          <p:nvPr/>
        </p:nvPicPr>
        <p:blipFill rotWithShape="1">
          <a:blip r:embed="rId5">
            <a:alphaModFix/>
          </a:blip>
          <a:srcRect/>
          <a:stretch/>
        </p:blipFill>
        <p:spPr>
          <a:xfrm>
            <a:off x="4237728" y="3848102"/>
            <a:ext cx="3044740" cy="2280616"/>
          </a:xfrm>
          <a:prstGeom prst="rect">
            <a:avLst/>
          </a:prstGeom>
          <a:noFill/>
          <a:ln>
            <a:noFill/>
          </a:ln>
        </p:spPr>
      </p:pic>
      <p:sp>
        <p:nvSpPr>
          <p:cNvPr id="310" name="Google Shape;310;p6"/>
          <p:cNvSpPr txBox="1"/>
          <p:nvPr/>
        </p:nvSpPr>
        <p:spPr>
          <a:xfrm>
            <a:off x="1331167" y="5802352"/>
            <a:ext cx="164685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pH Sensor</a:t>
            </a:r>
            <a:endParaRPr/>
          </a:p>
        </p:txBody>
      </p:sp>
      <p:sp>
        <p:nvSpPr>
          <p:cNvPr id="311" name="Google Shape;311;p6"/>
          <p:cNvSpPr txBox="1"/>
          <p:nvPr/>
        </p:nvSpPr>
        <p:spPr>
          <a:xfrm>
            <a:off x="4880687" y="5802352"/>
            <a:ext cx="175882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Turbidity Sensor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7"/>
          <p:cNvSpPr txBox="1">
            <a:spLocks noGrp="1"/>
          </p:cNvSpPr>
          <p:nvPr>
            <p:ph type="title"/>
          </p:nvPr>
        </p:nvSpPr>
        <p:spPr>
          <a:xfrm>
            <a:off x="838200" y="136525"/>
            <a:ext cx="10515600" cy="9924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Hardware requirement</a:t>
            </a:r>
            <a:endParaRPr b="1">
              <a:latin typeface="Times New Roman"/>
              <a:ea typeface="Times New Roman"/>
              <a:cs typeface="Times New Roman"/>
              <a:sym typeface="Times New Roman"/>
            </a:endParaRPr>
          </a:p>
        </p:txBody>
      </p:sp>
      <p:sp>
        <p:nvSpPr>
          <p:cNvPr id="317" name="Google Shape;317;p7"/>
          <p:cNvSpPr txBox="1">
            <a:spLocks noGrp="1"/>
          </p:cNvSpPr>
          <p:nvPr>
            <p:ph type="body" idx="1"/>
          </p:nvPr>
        </p:nvSpPr>
        <p:spPr>
          <a:xfrm>
            <a:off x="680357" y="1431573"/>
            <a:ext cx="10831286" cy="164218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600"/>
              <a:buChar char="•"/>
            </a:pPr>
            <a:r>
              <a:rPr lang="en-US" sz="2600">
                <a:latin typeface="Times New Roman"/>
                <a:ea typeface="Times New Roman"/>
                <a:cs typeface="Times New Roman"/>
                <a:sym typeface="Times New Roman"/>
              </a:rPr>
              <a:t>Dissolved Oxygen Sensor: Measures oxygen concentration for aquatic life</a:t>
            </a:r>
            <a:endParaRPr/>
          </a:p>
          <a:p>
            <a:pPr marL="228600" lvl="0" indent="-228600" algn="l"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Conductivity Sensor: Examines salinity and dissolved solids</a:t>
            </a:r>
            <a:endParaRPr/>
          </a:p>
          <a:p>
            <a:pPr marL="228600" lvl="0" indent="-228600" algn="l"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Ultrasonic/Pressure Sensors: Accurate water level monitoring</a:t>
            </a:r>
            <a:endParaRPr/>
          </a:p>
          <a:p>
            <a:pPr marL="0" lvl="0" indent="0" algn="l" rtl="0">
              <a:lnSpc>
                <a:spcPct val="90000"/>
              </a:lnSpc>
              <a:spcBef>
                <a:spcPts val="1000"/>
              </a:spcBef>
              <a:spcAft>
                <a:spcPts val="0"/>
              </a:spcAft>
              <a:buClr>
                <a:schemeClr val="dk1"/>
              </a:buClr>
              <a:buSzPts val="2800"/>
              <a:buNone/>
            </a:pPr>
            <a:endParaRPr b="0" i="0">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a:p>
        </p:txBody>
      </p:sp>
      <p:sp>
        <p:nvSpPr>
          <p:cNvPr id="318" name="Google Shape;31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319" name="Google Shape;319;p7"/>
          <p:cNvPicPr preferRelativeResize="0"/>
          <p:nvPr/>
        </p:nvPicPr>
        <p:blipFill rotWithShape="1">
          <a:blip r:embed="rId3">
            <a:alphaModFix/>
          </a:blip>
          <a:srcRect l="14972" t="22294" r="15792" b="20028"/>
          <a:stretch/>
        </p:blipFill>
        <p:spPr>
          <a:xfrm>
            <a:off x="8579635" y="4040101"/>
            <a:ext cx="2415932" cy="1704714"/>
          </a:xfrm>
          <a:prstGeom prst="rect">
            <a:avLst/>
          </a:prstGeom>
          <a:noFill/>
          <a:ln>
            <a:noFill/>
          </a:ln>
        </p:spPr>
      </p:pic>
      <p:pic>
        <p:nvPicPr>
          <p:cNvPr id="320" name="Google Shape;320;p7"/>
          <p:cNvPicPr preferRelativeResize="0"/>
          <p:nvPr/>
        </p:nvPicPr>
        <p:blipFill rotWithShape="1">
          <a:blip r:embed="rId4">
            <a:alphaModFix/>
          </a:blip>
          <a:srcRect/>
          <a:stretch/>
        </p:blipFill>
        <p:spPr>
          <a:xfrm>
            <a:off x="925268" y="3136577"/>
            <a:ext cx="2608238" cy="2608238"/>
          </a:xfrm>
          <a:prstGeom prst="rect">
            <a:avLst/>
          </a:prstGeom>
          <a:noFill/>
          <a:ln>
            <a:noFill/>
          </a:ln>
        </p:spPr>
      </p:pic>
      <p:pic>
        <p:nvPicPr>
          <p:cNvPr id="321" name="Google Shape;321;p7"/>
          <p:cNvPicPr preferRelativeResize="0"/>
          <p:nvPr/>
        </p:nvPicPr>
        <p:blipFill rotWithShape="1">
          <a:blip r:embed="rId5">
            <a:alphaModFix/>
          </a:blip>
          <a:srcRect/>
          <a:stretch/>
        </p:blipFill>
        <p:spPr>
          <a:xfrm>
            <a:off x="4915102" y="3505310"/>
            <a:ext cx="2315644" cy="2315644"/>
          </a:xfrm>
          <a:prstGeom prst="rect">
            <a:avLst/>
          </a:prstGeom>
          <a:noFill/>
          <a:ln>
            <a:noFill/>
          </a:ln>
        </p:spPr>
      </p:pic>
      <p:sp>
        <p:nvSpPr>
          <p:cNvPr id="322" name="Google Shape;322;p7"/>
          <p:cNvSpPr txBox="1"/>
          <p:nvPr/>
        </p:nvSpPr>
        <p:spPr>
          <a:xfrm>
            <a:off x="8952164" y="5636288"/>
            <a:ext cx="20434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Ultrasonic Sensor</a:t>
            </a:r>
            <a:endParaRPr/>
          </a:p>
        </p:txBody>
      </p:sp>
      <p:sp>
        <p:nvSpPr>
          <p:cNvPr id="323" name="Google Shape;323;p7"/>
          <p:cNvSpPr txBox="1"/>
          <p:nvPr/>
        </p:nvSpPr>
        <p:spPr>
          <a:xfrm>
            <a:off x="1064101" y="5636288"/>
            <a:ext cx="25799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Dissolved Oxygen sensor</a:t>
            </a:r>
            <a:endParaRPr sz="1800">
              <a:solidFill>
                <a:schemeClr val="dk1"/>
              </a:solidFill>
              <a:latin typeface="Calibri"/>
              <a:ea typeface="Calibri"/>
              <a:cs typeface="Calibri"/>
              <a:sym typeface="Calibri"/>
            </a:endParaRPr>
          </a:p>
        </p:txBody>
      </p:sp>
      <p:sp>
        <p:nvSpPr>
          <p:cNvPr id="324" name="Google Shape;324;p7"/>
          <p:cNvSpPr txBox="1"/>
          <p:nvPr/>
        </p:nvSpPr>
        <p:spPr>
          <a:xfrm>
            <a:off x="4992905" y="5636288"/>
            <a:ext cx="21600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Conductivity Sensor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8"/>
          <p:cNvSpPr txBox="1">
            <a:spLocks noGrp="1"/>
          </p:cNvSpPr>
          <p:nvPr>
            <p:ph type="title"/>
          </p:nvPr>
        </p:nvSpPr>
        <p:spPr>
          <a:xfrm>
            <a:off x="838200" y="136525"/>
            <a:ext cx="10515600" cy="9924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Hardware requirement</a:t>
            </a:r>
            <a:endParaRPr b="1">
              <a:latin typeface="Times New Roman"/>
              <a:ea typeface="Times New Roman"/>
              <a:cs typeface="Times New Roman"/>
              <a:sym typeface="Times New Roman"/>
            </a:endParaRPr>
          </a:p>
        </p:txBody>
      </p:sp>
      <p:sp>
        <p:nvSpPr>
          <p:cNvPr id="330" name="Google Shape;330;p8"/>
          <p:cNvSpPr txBox="1">
            <a:spLocks noGrp="1"/>
          </p:cNvSpPr>
          <p:nvPr>
            <p:ph type="body" idx="1"/>
          </p:nvPr>
        </p:nvSpPr>
        <p:spPr>
          <a:xfrm>
            <a:off x="494522" y="1203650"/>
            <a:ext cx="10859278" cy="3253027"/>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Edge Devices:​</a:t>
            </a:r>
            <a:endParaRPr/>
          </a:p>
          <a:p>
            <a:pPr marL="1143000" lvl="2" indent="-228600" algn="just"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ESP32/Arduino: Low-power, cost-effective microcontrollers</a:t>
            </a:r>
            <a:endParaRPr/>
          </a:p>
          <a:p>
            <a:pPr marL="1143000" lvl="2" indent="-228600" algn="just"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Raspberry Pi: For applications requiring enhanced processing power and edge analytics</a:t>
            </a:r>
            <a:endParaRPr/>
          </a:p>
          <a:p>
            <a:pPr marL="0" lvl="0" indent="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Communication Modules:​</a:t>
            </a:r>
            <a:endParaRPr/>
          </a:p>
          <a:p>
            <a:pPr marL="1143000" lvl="2" indent="-228600" algn="just"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Wi-Fi: Short-range, high-bandwidth (urban water tanks)</a:t>
            </a:r>
            <a:endParaRPr/>
          </a:p>
          <a:p>
            <a:pPr marL="1143000" lvl="2" indent="-228600" algn="just"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LoRaWAN: Long-range, low-power (rural applications)</a:t>
            </a:r>
            <a:endParaRPr/>
          </a:p>
          <a:p>
            <a:pPr marL="1143000" lvl="2" indent="-228600" algn="just"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NB-IoT: Cellular-based wide-area monitoring</a:t>
            </a:r>
            <a:endParaRPr/>
          </a:p>
          <a:p>
            <a:pPr marL="457200" lvl="1" indent="0" algn="just" rtl="0">
              <a:lnSpc>
                <a:spcPct val="90000"/>
              </a:lnSpc>
              <a:spcBef>
                <a:spcPts val="500"/>
              </a:spcBef>
              <a:spcAft>
                <a:spcPts val="0"/>
              </a:spcAft>
              <a:buClr>
                <a:schemeClr val="dk1"/>
              </a:buClr>
              <a:buSzPts val="2400"/>
              <a:buNone/>
            </a:pPr>
            <a:endParaRPr i="0">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331" name="Google Shape;33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332" name="Google Shape;332;p8"/>
          <p:cNvPicPr preferRelativeResize="0"/>
          <p:nvPr/>
        </p:nvPicPr>
        <p:blipFill rotWithShape="1">
          <a:blip r:embed="rId3">
            <a:alphaModFix/>
          </a:blip>
          <a:srcRect/>
          <a:stretch/>
        </p:blipFill>
        <p:spPr>
          <a:xfrm>
            <a:off x="1965649" y="4510984"/>
            <a:ext cx="3498271" cy="1845366"/>
          </a:xfrm>
          <a:prstGeom prst="rect">
            <a:avLst/>
          </a:prstGeom>
          <a:noFill/>
          <a:ln>
            <a:noFill/>
          </a:ln>
        </p:spPr>
      </p:pic>
      <p:pic>
        <p:nvPicPr>
          <p:cNvPr id="333" name="Google Shape;333;p8"/>
          <p:cNvPicPr preferRelativeResize="0"/>
          <p:nvPr/>
        </p:nvPicPr>
        <p:blipFill rotWithShape="1">
          <a:blip r:embed="rId4">
            <a:alphaModFix/>
          </a:blip>
          <a:srcRect/>
          <a:stretch/>
        </p:blipFill>
        <p:spPr>
          <a:xfrm>
            <a:off x="7455159" y="4458881"/>
            <a:ext cx="2622680" cy="1897469"/>
          </a:xfrm>
          <a:prstGeom prst="rect">
            <a:avLst/>
          </a:prstGeom>
          <a:noFill/>
          <a:ln>
            <a:noFill/>
          </a:ln>
        </p:spPr>
      </p:pic>
      <p:sp>
        <p:nvSpPr>
          <p:cNvPr id="334" name="Google Shape;334;p8"/>
          <p:cNvSpPr txBox="1"/>
          <p:nvPr/>
        </p:nvSpPr>
        <p:spPr>
          <a:xfrm>
            <a:off x="3257584" y="6356350"/>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ESP32</a:t>
            </a:r>
            <a:endParaRPr sz="1800">
              <a:solidFill>
                <a:schemeClr val="dk1"/>
              </a:solidFill>
              <a:latin typeface="Calibri"/>
              <a:ea typeface="Calibri"/>
              <a:cs typeface="Calibri"/>
              <a:sym typeface="Calibri"/>
            </a:endParaRPr>
          </a:p>
        </p:txBody>
      </p:sp>
      <p:sp>
        <p:nvSpPr>
          <p:cNvPr id="335" name="Google Shape;335;p8"/>
          <p:cNvSpPr txBox="1"/>
          <p:nvPr/>
        </p:nvSpPr>
        <p:spPr>
          <a:xfrm>
            <a:off x="8036573" y="6352143"/>
            <a:ext cx="14598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Raspberry Pi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9"/>
          <p:cNvSpPr txBox="1">
            <a:spLocks noGrp="1"/>
          </p:cNvSpPr>
          <p:nvPr>
            <p:ph type="title"/>
          </p:nvPr>
        </p:nvSpPr>
        <p:spPr>
          <a:xfrm>
            <a:off x="838200" y="151321"/>
            <a:ext cx="10515600" cy="98253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Methodology to be used</a:t>
            </a:r>
            <a:endParaRPr b="1">
              <a:latin typeface="Times New Roman"/>
              <a:ea typeface="Times New Roman"/>
              <a:cs typeface="Times New Roman"/>
              <a:sym typeface="Times New Roman"/>
            </a:endParaRPr>
          </a:p>
        </p:txBody>
      </p:sp>
      <p:sp>
        <p:nvSpPr>
          <p:cNvPr id="341" name="Google Shape;34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342" name="Google Shape;342;p9"/>
          <p:cNvSpPr/>
          <p:nvPr/>
        </p:nvSpPr>
        <p:spPr>
          <a:xfrm>
            <a:off x="2093976" y="5202936"/>
            <a:ext cx="3182112" cy="52120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3" name="Google Shape;343;p9"/>
          <p:cNvSpPr txBox="1">
            <a:spLocks noGrp="1"/>
          </p:cNvSpPr>
          <p:nvPr>
            <p:ph type="body" idx="1"/>
          </p:nvPr>
        </p:nvSpPr>
        <p:spPr>
          <a:xfrm>
            <a:off x="457200" y="1439020"/>
            <a:ext cx="10896600" cy="491733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600"/>
              <a:buNone/>
            </a:pPr>
            <a:r>
              <a:rPr lang="en-US" sz="2600">
                <a:latin typeface="Times New Roman"/>
                <a:ea typeface="Times New Roman"/>
                <a:cs typeface="Times New Roman"/>
                <a:sym typeface="Times New Roman"/>
              </a:rPr>
              <a:t>Data Collection Setup:​</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Deployed across overhead tanks, lakes, and small reservoirs for heterogeneous datasets​</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Multi-parameter sensors connected to microcontroller with wireless communication modules​</a:t>
            </a:r>
            <a:endParaRPr/>
          </a:p>
          <a:p>
            <a:pPr marL="0" lvl="0" indent="0" algn="just" rtl="0">
              <a:lnSpc>
                <a:spcPct val="90000"/>
              </a:lnSpc>
              <a:spcBef>
                <a:spcPts val="1000"/>
              </a:spcBef>
              <a:spcAft>
                <a:spcPts val="0"/>
              </a:spcAft>
              <a:buClr>
                <a:schemeClr val="dk1"/>
              </a:buClr>
              <a:buSzPts val="2600"/>
              <a:buNone/>
            </a:pPr>
            <a:r>
              <a:rPr lang="en-US" sz="2600">
                <a:latin typeface="Times New Roman"/>
                <a:ea typeface="Times New Roman"/>
                <a:cs typeface="Times New Roman"/>
                <a:sym typeface="Times New Roman"/>
              </a:rPr>
              <a:t>Experimental Protocol:​</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Duration: 30-day continuous monitoring period​</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Sampling Rate: Data collected every 5 minutes​</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Validation: Laboratory sampling for ground-truth verification at regular intervals</a:t>
            </a:r>
            <a:endParaRPr/>
          </a:p>
          <a:p>
            <a:pPr marL="228600" lvl="0" indent="-63500" algn="just" rtl="0">
              <a:lnSpc>
                <a:spcPct val="90000"/>
              </a:lnSpc>
              <a:spcBef>
                <a:spcPts val="1000"/>
              </a:spcBef>
              <a:spcAft>
                <a:spcPts val="0"/>
              </a:spcAft>
              <a:buClr>
                <a:schemeClr val="dk1"/>
              </a:buClr>
              <a:buSzPts val="2600"/>
              <a:buNone/>
            </a:pPr>
            <a:endParaRPr sz="26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10"/>
          <p:cNvSpPr txBox="1">
            <a:spLocks noGrp="1"/>
          </p:cNvSpPr>
          <p:nvPr>
            <p:ph type="title"/>
          </p:nvPr>
        </p:nvSpPr>
        <p:spPr>
          <a:xfrm>
            <a:off x="838200" y="151321"/>
            <a:ext cx="10515600" cy="98253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Methodology to be used</a:t>
            </a:r>
            <a:endParaRPr b="1">
              <a:latin typeface="Times New Roman"/>
              <a:ea typeface="Times New Roman"/>
              <a:cs typeface="Times New Roman"/>
              <a:sym typeface="Times New Roman"/>
            </a:endParaRPr>
          </a:p>
        </p:txBody>
      </p:sp>
      <p:sp>
        <p:nvSpPr>
          <p:cNvPr id="349" name="Google Shape;3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350" name="Google Shape;350;p10"/>
          <p:cNvSpPr/>
          <p:nvPr/>
        </p:nvSpPr>
        <p:spPr>
          <a:xfrm>
            <a:off x="2093976" y="5202936"/>
            <a:ext cx="3182112" cy="52120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10"/>
          <p:cNvSpPr txBox="1">
            <a:spLocks noGrp="1"/>
          </p:cNvSpPr>
          <p:nvPr>
            <p:ph type="body" idx="1"/>
          </p:nvPr>
        </p:nvSpPr>
        <p:spPr>
          <a:xfrm>
            <a:off x="647700" y="1520237"/>
            <a:ext cx="10896600" cy="3943303"/>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600"/>
              <a:buNone/>
            </a:pPr>
            <a:r>
              <a:rPr lang="en-US" sz="2600">
                <a:latin typeface="Times New Roman"/>
                <a:ea typeface="Times New Roman"/>
                <a:cs typeface="Times New Roman"/>
                <a:sym typeface="Times New Roman"/>
              </a:rPr>
              <a:t>AI/ML Techniques:​</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Decision Trees &amp; SVM: Classification of water quality (normal vs. abnormal)​</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CNN &amp; LSTM Networks: Time-series analysis for detecting minute anomalies and temporal dependencies​</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Cloud-hosted Training: Hyperparameter optimization for enhanced accuracy and efficiency​</a:t>
            </a:r>
            <a:endParaRPr/>
          </a:p>
          <a:p>
            <a:pPr marL="0" lvl="0" indent="0" algn="just" rtl="0">
              <a:lnSpc>
                <a:spcPct val="90000"/>
              </a:lnSpc>
              <a:spcBef>
                <a:spcPts val="1000"/>
              </a:spcBef>
              <a:spcAft>
                <a:spcPts val="0"/>
              </a:spcAft>
              <a:buClr>
                <a:schemeClr val="dk1"/>
              </a:buClr>
              <a:buSzPts val="2600"/>
              <a:buNone/>
            </a:pPr>
            <a:r>
              <a:rPr lang="en-US" sz="2600">
                <a:latin typeface="Times New Roman"/>
                <a:ea typeface="Times New Roman"/>
                <a:cs typeface="Times New Roman"/>
                <a:sym typeface="Times New Roman"/>
              </a:rPr>
              <a:t> Performance Metrics:​</a:t>
            </a:r>
            <a:endParaRPr/>
          </a:p>
          <a:p>
            <a:pPr marL="685800" lvl="1" indent="-228600" algn="just" rtl="0">
              <a:lnSpc>
                <a:spcPct val="90000"/>
              </a:lnSpc>
              <a:spcBef>
                <a:spcPts val="500"/>
              </a:spcBef>
              <a:spcAft>
                <a:spcPts val="0"/>
              </a:spcAft>
              <a:buClr>
                <a:schemeClr val="dk1"/>
              </a:buClr>
              <a:buSzPts val="2600"/>
              <a:buChar char="•"/>
            </a:pPr>
            <a:r>
              <a:rPr lang="en-US" sz="2600">
                <a:latin typeface="Times New Roman"/>
                <a:ea typeface="Times New Roman"/>
                <a:cs typeface="Times New Roman"/>
                <a:sym typeface="Times New Roman"/>
              </a:rPr>
              <a:t>Accuracy, Latency, Power Consumption, Scalability</a:t>
            </a:r>
            <a:endParaRPr/>
          </a:p>
          <a:p>
            <a:pPr marL="228600" lvl="0" indent="-63500" algn="just" rtl="0">
              <a:lnSpc>
                <a:spcPct val="90000"/>
              </a:lnSpc>
              <a:spcBef>
                <a:spcPts val="1000"/>
              </a:spcBef>
              <a:spcAft>
                <a:spcPts val="0"/>
              </a:spcAft>
              <a:buClr>
                <a:schemeClr val="dk1"/>
              </a:buClr>
              <a:buSzPts val="2600"/>
              <a:buNone/>
            </a:pPr>
            <a:endParaRPr sz="26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11"/>
          <p:cNvSpPr txBox="1">
            <a:spLocks noGrp="1"/>
          </p:cNvSpPr>
          <p:nvPr>
            <p:ph type="title"/>
          </p:nvPr>
        </p:nvSpPr>
        <p:spPr>
          <a:xfrm>
            <a:off x="838200" y="146112"/>
            <a:ext cx="10515600" cy="9604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Literature Review </a:t>
            </a:r>
            <a:endParaRPr/>
          </a:p>
        </p:txBody>
      </p:sp>
      <p:sp>
        <p:nvSpPr>
          <p:cNvPr id="357" name="Google Shape;357;p11"/>
          <p:cNvSpPr txBox="1">
            <a:spLocks noGrp="1"/>
          </p:cNvSpPr>
          <p:nvPr>
            <p:ph type="body" idx="1"/>
          </p:nvPr>
        </p:nvSpPr>
        <p:spPr>
          <a:xfrm>
            <a:off x="429208" y="1240971"/>
            <a:ext cx="10924592" cy="5115379"/>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b="1">
                <a:latin typeface="Times New Roman"/>
                <a:ea typeface="Times New Roman"/>
                <a:cs typeface="Times New Roman"/>
                <a:sym typeface="Times New Roman"/>
              </a:rPr>
              <a:t>Evolution of Water Monitoring Systems:​</a:t>
            </a:r>
            <a:endParaRPr/>
          </a:p>
          <a:p>
            <a:pPr marL="0" lvl="0" indent="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Early IoT Systems:</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Low-cost sensor networks for pH, turbidity, temperature monitoring​</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Limitations: Latency issues, poor connectivity, small-scale deployments​</a:t>
            </a:r>
            <a:endParaRPr/>
          </a:p>
          <a:p>
            <a:pPr marL="0" lvl="0" indent="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Cloud-Integrated Systems:</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Centralized data aggregation with remote viewing capabilities​</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Gap: Focused only on storage/visualization, lacked advanced analytics​</a:t>
            </a:r>
            <a:endParaRPr/>
          </a:p>
          <a:p>
            <a:pPr marL="0" lvl="0" indent="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AI/ML Applications:</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High accuracy in detecting anomalies and predicting contamination​</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Challenge: Offered separately, not integrated into IoT-cloud ecosystems​</a:t>
            </a:r>
            <a:endParaRPr/>
          </a:p>
          <a:p>
            <a:pPr marL="0" lvl="0" indent="0" algn="just"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a:t>
            </a:r>
            <a:endParaRPr/>
          </a:p>
        </p:txBody>
      </p:sp>
      <p:sp>
        <p:nvSpPr>
          <p:cNvPr id="358" name="Google Shape;35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2"/>
          <p:cNvSpPr txBox="1">
            <a:spLocks noGrp="1"/>
          </p:cNvSpPr>
          <p:nvPr>
            <p:ph type="title"/>
          </p:nvPr>
        </p:nvSpPr>
        <p:spPr>
          <a:xfrm>
            <a:off x="838200" y="136526"/>
            <a:ext cx="10515600" cy="100181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a:ea typeface="Times New Roman"/>
                <a:cs typeface="Times New Roman"/>
                <a:sym typeface="Times New Roman"/>
              </a:rPr>
              <a:t>Literature</a:t>
            </a:r>
            <a:r>
              <a:rPr lang="en-US" dirty="0">
                <a:latin typeface="Times New Roman"/>
                <a:ea typeface="Times New Roman"/>
                <a:cs typeface="Times New Roman"/>
                <a:sym typeface="Times New Roman"/>
              </a:rPr>
              <a:t> </a:t>
            </a:r>
            <a:r>
              <a:rPr lang="en-US" b="1" dirty="0">
                <a:latin typeface="Times New Roman"/>
                <a:ea typeface="Times New Roman"/>
                <a:cs typeface="Times New Roman"/>
                <a:sym typeface="Times New Roman"/>
              </a:rPr>
              <a:t>Review</a:t>
            </a:r>
            <a:r>
              <a:rPr lang="en-US" dirty="0">
                <a:latin typeface="Times New Roman"/>
                <a:ea typeface="Times New Roman"/>
                <a:cs typeface="Times New Roman"/>
                <a:sym typeface="Times New Roman"/>
              </a:rPr>
              <a:t> </a:t>
            </a:r>
            <a:endParaRPr dirty="0"/>
          </a:p>
        </p:txBody>
      </p:sp>
      <p:sp>
        <p:nvSpPr>
          <p:cNvPr id="364" name="Google Shape;364;p12"/>
          <p:cNvSpPr txBox="1">
            <a:spLocks noGrp="1"/>
          </p:cNvSpPr>
          <p:nvPr>
            <p:ph type="body" idx="1"/>
          </p:nvPr>
        </p:nvSpPr>
        <p:spPr>
          <a:xfrm>
            <a:off x="457200" y="1268962"/>
            <a:ext cx="10896600" cy="518069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err="1">
                <a:latin typeface="Times New Roman"/>
                <a:ea typeface="Times New Roman"/>
                <a:cs typeface="Times New Roman"/>
                <a:sym typeface="Times New Roman"/>
              </a:rPr>
              <a:t>HyrdroGuard's</a:t>
            </a:r>
            <a:r>
              <a:rPr lang="en-US" dirty="0">
                <a:latin typeface="Times New Roman"/>
                <a:ea typeface="Times New Roman"/>
                <a:cs typeface="Times New Roman"/>
                <a:sym typeface="Times New Roman"/>
              </a:rPr>
              <a:t> Contribution:​</a:t>
            </a:r>
            <a:endParaRPr dirty="0"/>
          </a:p>
          <a:p>
            <a:pPr marL="685800" lvl="1" indent="-228600" algn="l" rtl="0">
              <a:lnSpc>
                <a:spcPct val="90000"/>
              </a:lnSpc>
              <a:spcBef>
                <a:spcPts val="500"/>
              </a:spcBef>
              <a:spcAft>
                <a:spcPts val="0"/>
              </a:spcAft>
              <a:buClr>
                <a:schemeClr val="dk1"/>
              </a:buClr>
              <a:buSzPts val="2400"/>
              <a:buChar char="•"/>
            </a:pPr>
            <a:r>
              <a:rPr lang="en-US" dirty="0">
                <a:latin typeface="Times New Roman"/>
                <a:ea typeface="Times New Roman"/>
                <a:cs typeface="Times New Roman"/>
                <a:sym typeface="Times New Roman"/>
              </a:rPr>
              <a:t>First fully integrated solution combining </a:t>
            </a:r>
            <a:r>
              <a:rPr lang="en-US" dirty="0" err="1">
                <a:latin typeface="Times New Roman"/>
                <a:ea typeface="Times New Roman"/>
                <a:cs typeface="Times New Roman"/>
                <a:sym typeface="Times New Roman"/>
              </a:rPr>
              <a:t>AIoT</a:t>
            </a:r>
            <a:r>
              <a:rPr lang="en-US" dirty="0">
                <a:latin typeface="Times New Roman"/>
                <a:ea typeface="Times New Roman"/>
                <a:cs typeface="Times New Roman"/>
                <a:sym typeface="Times New Roman"/>
              </a:rPr>
              <a:t> sensing, cloud storage/analytics, and AI-driven anomaly detection</a:t>
            </a:r>
            <a:endParaRPr dirty="0"/>
          </a:p>
          <a:p>
            <a:pPr marL="685800" lvl="1" indent="-228600" algn="l" rtl="0">
              <a:lnSpc>
                <a:spcPct val="90000"/>
              </a:lnSpc>
              <a:spcBef>
                <a:spcPts val="500"/>
              </a:spcBef>
              <a:spcAft>
                <a:spcPts val="0"/>
              </a:spcAft>
              <a:buClr>
                <a:schemeClr val="dk1"/>
              </a:buClr>
              <a:buSzPts val="2400"/>
              <a:buChar char="•"/>
            </a:pPr>
            <a:r>
              <a:rPr lang="en-US" dirty="0">
                <a:latin typeface="Times New Roman"/>
                <a:ea typeface="Times New Roman"/>
                <a:cs typeface="Times New Roman"/>
                <a:sym typeface="Times New Roman"/>
              </a:rPr>
              <a:t>Provides end-to-end intelligence from data collection to predictive management insights</a:t>
            </a:r>
            <a:endParaRPr dirty="0"/>
          </a:p>
        </p:txBody>
      </p:sp>
      <p:sp>
        <p:nvSpPr>
          <p:cNvPr id="365" name="Google Shape;36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66" name="Google Shape;366;p12"/>
          <p:cNvPicPr preferRelativeResize="0"/>
          <p:nvPr/>
        </p:nvPicPr>
        <p:blipFill rotWithShape="1">
          <a:blip r:embed="rId3">
            <a:alphaModFix/>
          </a:blip>
          <a:srcRect/>
          <a:stretch/>
        </p:blipFill>
        <p:spPr>
          <a:xfrm>
            <a:off x="686561" y="3223792"/>
            <a:ext cx="5218939" cy="3497682"/>
          </a:xfrm>
          <a:prstGeom prst="rect">
            <a:avLst/>
          </a:prstGeom>
          <a:noFill/>
          <a:ln>
            <a:noFill/>
          </a:ln>
        </p:spPr>
      </p:pic>
      <p:pic>
        <p:nvPicPr>
          <p:cNvPr id="367" name="Google Shape;367;p12"/>
          <p:cNvPicPr preferRelativeResize="0"/>
          <p:nvPr/>
        </p:nvPicPr>
        <p:blipFill rotWithShape="1">
          <a:blip r:embed="rId4">
            <a:alphaModFix/>
          </a:blip>
          <a:srcRect/>
          <a:stretch/>
        </p:blipFill>
        <p:spPr>
          <a:xfrm>
            <a:off x="6288405" y="3691628"/>
            <a:ext cx="4644390" cy="3029846"/>
          </a:xfrm>
          <a:prstGeom prst="rect">
            <a:avLst/>
          </a:prstGeom>
          <a:noFill/>
          <a:ln>
            <a:noFill/>
          </a:ln>
        </p:spPr>
      </p:pic>
      <p:sp>
        <p:nvSpPr>
          <p:cNvPr id="368" name="Google Shape;368;p12"/>
          <p:cNvSpPr txBox="1"/>
          <p:nvPr/>
        </p:nvSpPr>
        <p:spPr>
          <a:xfrm>
            <a:off x="7329109" y="3376336"/>
            <a:ext cx="308828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AEABAB"/>
                </a:solidFill>
                <a:latin typeface="Times New Roman"/>
                <a:ea typeface="Times New Roman"/>
                <a:cs typeface="Times New Roman"/>
                <a:sym typeface="Times New Roman"/>
              </a:rPr>
              <a:t>Figure: Latency vs Model Type</a:t>
            </a:r>
            <a:endParaRPr sz="1800">
              <a:solidFill>
                <a:srgbClr val="AEABAB"/>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3"/>
          <p:cNvSpPr txBox="1">
            <a:spLocks noGrp="1"/>
          </p:cNvSpPr>
          <p:nvPr>
            <p:ph type="title"/>
          </p:nvPr>
        </p:nvSpPr>
        <p:spPr>
          <a:xfrm>
            <a:off x="838200" y="136526"/>
            <a:ext cx="10515600" cy="98314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Conclusion</a:t>
            </a:r>
            <a:endParaRPr/>
          </a:p>
        </p:txBody>
      </p:sp>
      <p:sp>
        <p:nvSpPr>
          <p:cNvPr id="374" name="Google Shape;374;p13"/>
          <p:cNvSpPr txBox="1">
            <a:spLocks noGrp="1"/>
          </p:cNvSpPr>
          <p:nvPr>
            <p:ph type="body" idx="1"/>
          </p:nvPr>
        </p:nvSpPr>
        <p:spPr>
          <a:xfrm>
            <a:off x="657030" y="1429689"/>
            <a:ext cx="10877939" cy="4926661"/>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dirty="0" err="1">
                <a:latin typeface="Times New Roman"/>
                <a:ea typeface="Times New Roman"/>
                <a:cs typeface="Times New Roman"/>
                <a:sym typeface="Times New Roman"/>
              </a:rPr>
              <a:t>HydroGuard</a:t>
            </a:r>
            <a:r>
              <a:rPr lang="en-US" sz="2400" dirty="0">
                <a:latin typeface="Times New Roman"/>
                <a:ea typeface="Times New Roman"/>
                <a:cs typeface="Times New Roman"/>
                <a:sym typeface="Times New Roman"/>
              </a:rPr>
              <a:t> is a cloud-enabled </a:t>
            </a:r>
            <a:r>
              <a:rPr lang="en-US" sz="2400" dirty="0" err="1">
                <a:latin typeface="Times New Roman"/>
                <a:ea typeface="Times New Roman"/>
                <a:cs typeface="Times New Roman"/>
                <a:sym typeface="Times New Roman"/>
              </a:rPr>
              <a:t>AIoT</a:t>
            </a:r>
            <a:r>
              <a:rPr lang="en-US" sz="2400" dirty="0">
                <a:latin typeface="Times New Roman"/>
                <a:ea typeface="Times New Roman"/>
                <a:cs typeface="Times New Roman"/>
                <a:sym typeface="Times New Roman"/>
              </a:rPr>
              <a:t> system that monitors real-time water quality and water levels to address critical challenges of water pollution, scarcity, and floods. By integrating AI models with IoT sensors and cloud infrastructure, the system delivers high-precision water quality classification, anomaly detection, and predictive alerts. Experimental results demonstrate improved efficiency, accuracy, and scalability compared to conventional methods, with significant reductions in latency and enhanced anomaly detection capabilities. The cloud integration provides superior data storage, visibility, and accessibility, while the user-friendly dashboard and automated alert system enable effective decision-making for policymakers and communities. </a:t>
            </a:r>
            <a:r>
              <a:rPr lang="en-US" sz="2400" dirty="0" err="1">
                <a:latin typeface="Times New Roman"/>
                <a:ea typeface="Times New Roman"/>
                <a:cs typeface="Times New Roman"/>
                <a:sym typeface="Times New Roman"/>
              </a:rPr>
              <a:t>HydroGuard's</a:t>
            </a:r>
            <a:r>
              <a:rPr lang="en-US" sz="2400" dirty="0">
                <a:latin typeface="Times New Roman"/>
                <a:ea typeface="Times New Roman"/>
                <a:cs typeface="Times New Roman"/>
                <a:sym typeface="Times New Roman"/>
              </a:rPr>
              <a:t> modular and scalable architecture positions it as a viable solution for both urban smart cities and rural water resource management, offering a sustainable foundation for intelligent water management by bridging IoT, AI, and cloud computing technologies.</a:t>
            </a:r>
            <a:endParaRPr dirty="0"/>
          </a:p>
        </p:txBody>
      </p:sp>
      <p:sp>
        <p:nvSpPr>
          <p:cNvPr id="375" name="Google Shape;3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14"/>
          <p:cNvSpPr txBox="1">
            <a:spLocks noGrp="1"/>
          </p:cNvSpPr>
          <p:nvPr>
            <p:ph type="title"/>
          </p:nvPr>
        </p:nvSpPr>
        <p:spPr>
          <a:xfrm>
            <a:off x="838200" y="136526"/>
            <a:ext cx="10515600" cy="98314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Future Scope</a:t>
            </a:r>
            <a:endParaRPr/>
          </a:p>
        </p:txBody>
      </p:sp>
      <p:sp>
        <p:nvSpPr>
          <p:cNvPr id="381" name="Google Shape;381;p14"/>
          <p:cNvSpPr txBox="1">
            <a:spLocks noGrp="1"/>
          </p:cNvSpPr>
          <p:nvPr>
            <p:ph type="body" idx="1"/>
          </p:nvPr>
        </p:nvSpPr>
        <p:spPr>
          <a:xfrm>
            <a:off x="438539" y="1212980"/>
            <a:ext cx="10915261" cy="527989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600"/>
              <a:buChar char="•"/>
            </a:pPr>
            <a:r>
              <a:rPr lang="en-US" sz="2600">
                <a:latin typeface="Times New Roman"/>
                <a:ea typeface="Times New Roman"/>
                <a:cs typeface="Times New Roman"/>
                <a:sym typeface="Times New Roman"/>
              </a:rPr>
              <a:t>Blockchain Integration: Secure, tamper-proof, transparent water quality data management for regulatory compliance​</a:t>
            </a:r>
            <a:endParaRPr/>
          </a:p>
          <a:p>
            <a:pPr marL="228600" lvl="0" indent="-228600" algn="just"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Advanced Deep Learning: Implement recurrent neural networks and attention-based models for enhanced anomaly detection​</a:t>
            </a:r>
            <a:endParaRPr/>
          </a:p>
          <a:p>
            <a:pPr marL="228600" lvl="0" indent="-228600" algn="just"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Smart City Integration: Interoperability with flood management, wastewater treatment, and emergency response systems​</a:t>
            </a:r>
            <a:endParaRPr/>
          </a:p>
          <a:p>
            <a:pPr marL="228600" lvl="0" indent="-228600" algn="just"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Low-Power Edge AI: Deploy in remote/resource-limited regions for continuous surveillance without heavy cloud dependence​</a:t>
            </a:r>
            <a:endParaRPr/>
          </a:p>
          <a:p>
            <a:pPr marL="228600" lvl="0" indent="-228600" algn="just"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Industrial Expansion: Scale to industrial wastewater monitoring with stricter environmental compliance requirements​</a:t>
            </a:r>
            <a:endParaRPr/>
          </a:p>
          <a:p>
            <a:pPr marL="228600" lvl="0" indent="-228600" algn="just" rtl="0">
              <a:lnSpc>
                <a:spcPct val="90000"/>
              </a:lnSpc>
              <a:spcBef>
                <a:spcPts val="1000"/>
              </a:spcBef>
              <a:spcAft>
                <a:spcPts val="0"/>
              </a:spcAft>
              <a:buClr>
                <a:schemeClr val="dk1"/>
              </a:buClr>
              <a:buSzPts val="2600"/>
              <a:buChar char="•"/>
            </a:pPr>
            <a:r>
              <a:rPr lang="en-US" sz="2600">
                <a:latin typeface="Times New Roman"/>
                <a:ea typeface="Times New Roman"/>
                <a:cs typeface="Times New Roman"/>
                <a:sym typeface="Times New Roman"/>
              </a:rPr>
              <a:t>Enhanced Predictive Analytics: Further optimize forecasting models for seasonal patterns and contamination events</a:t>
            </a:r>
            <a:endParaRPr/>
          </a:p>
          <a:p>
            <a:pPr marL="228600" lvl="0" indent="-63500" algn="just" rtl="0">
              <a:lnSpc>
                <a:spcPct val="90000"/>
              </a:lnSpc>
              <a:spcBef>
                <a:spcPts val="1000"/>
              </a:spcBef>
              <a:spcAft>
                <a:spcPts val="0"/>
              </a:spcAft>
              <a:buClr>
                <a:schemeClr val="dk1"/>
              </a:buClr>
              <a:buSzPts val="2600"/>
              <a:buNone/>
            </a:pPr>
            <a:endParaRPr sz="2600">
              <a:latin typeface="Times New Roman"/>
              <a:ea typeface="Times New Roman"/>
              <a:cs typeface="Times New Roman"/>
              <a:sym typeface="Times New Roman"/>
            </a:endParaRPr>
          </a:p>
        </p:txBody>
      </p:sp>
      <p:sp>
        <p:nvSpPr>
          <p:cNvPr id="382" name="Google Shape;38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5"/>
          <p:cNvSpPr txBox="1">
            <a:spLocks noGrp="1"/>
          </p:cNvSpPr>
          <p:nvPr>
            <p:ph type="title"/>
          </p:nvPr>
        </p:nvSpPr>
        <p:spPr>
          <a:xfrm>
            <a:off x="838200" y="136525"/>
            <a:ext cx="10515600" cy="9924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References</a:t>
            </a:r>
            <a:endParaRPr/>
          </a:p>
        </p:txBody>
      </p:sp>
      <p:sp>
        <p:nvSpPr>
          <p:cNvPr id="388" name="Google Shape;388;p15"/>
          <p:cNvSpPr txBox="1">
            <a:spLocks noGrp="1"/>
          </p:cNvSpPr>
          <p:nvPr>
            <p:ph type="body" idx="1"/>
          </p:nvPr>
        </p:nvSpPr>
        <p:spPr>
          <a:xfrm>
            <a:off x="401216" y="1250302"/>
            <a:ext cx="10952584" cy="4926661"/>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b="1">
                <a:latin typeface="Times New Roman"/>
                <a:ea typeface="Times New Roman"/>
                <a:cs typeface="Times New Roman"/>
                <a:sym typeface="Times New Roman"/>
              </a:rPr>
              <a:t>Key Research Citations:​</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Leigh C. et al., "A framework of automated anomaly detection in high frequency water-quality data using in situ sensors," arXiv preprint, October 2018</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Singh N. et al., "Detection of Water Quality through Machine Learning and IoT," IJERT, vol. 10, no. 11, 2021</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Moursi M. et al., "Smart Environmental Monitoring of Marine Pollution using Edge AI," arXiv, Apr. 2025</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Kathen M. J. et al., "AquaFeL-PSO: Monitoring system of water resources through autonomous surface vessels," arXiv, Nov. 2022</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"Anomaly Detection of Water Quality Sensor Monitoring Using Multivariate Deep Learning," Sensors, vol. 23, no. 20, Oct. 2023</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"AI-Based Anomaly Detection of Smart Water Metering Systems through Ensemble Learning," Water, vol. 17, no. 13, Jun. 2025</a:t>
            </a:r>
            <a:endParaRPr/>
          </a:p>
          <a:p>
            <a:pPr marL="228600" lvl="0" indent="-107950" algn="just" rtl="0">
              <a:lnSpc>
                <a:spcPct val="90000"/>
              </a:lnSpc>
              <a:spcBef>
                <a:spcPts val="1000"/>
              </a:spcBef>
              <a:spcAft>
                <a:spcPts val="0"/>
              </a:spcAft>
              <a:buClr>
                <a:schemeClr val="dk1"/>
              </a:buClr>
              <a:buSzPts val="1900"/>
              <a:buNone/>
            </a:pPr>
            <a:endParaRPr sz="1900">
              <a:latin typeface="Times New Roman"/>
              <a:ea typeface="Times New Roman"/>
              <a:cs typeface="Times New Roman"/>
              <a:sym typeface="Times New Roman"/>
            </a:endParaRPr>
          </a:p>
          <a:p>
            <a:pPr marL="228600" lvl="0" indent="-107950" algn="just" rtl="0">
              <a:lnSpc>
                <a:spcPct val="90000"/>
              </a:lnSpc>
              <a:spcBef>
                <a:spcPts val="1000"/>
              </a:spcBef>
              <a:spcAft>
                <a:spcPts val="0"/>
              </a:spcAft>
              <a:buClr>
                <a:schemeClr val="dk1"/>
              </a:buClr>
              <a:buSzPts val="1900"/>
              <a:buNone/>
            </a:pPr>
            <a:endParaRPr sz="1900">
              <a:latin typeface="Times New Roman"/>
              <a:ea typeface="Times New Roman"/>
              <a:cs typeface="Times New Roman"/>
              <a:sym typeface="Times New Roman"/>
            </a:endParaRPr>
          </a:p>
        </p:txBody>
      </p:sp>
      <p:sp>
        <p:nvSpPr>
          <p:cNvPr id="389" name="Google Shape;38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1193</Words>
  <Application>Microsoft Office PowerPoint</Application>
  <PresentationFormat>Widescreen</PresentationFormat>
  <Paragraphs>138</Paragraphs>
  <Slides>15</Slides>
  <Notes>15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15</vt:i4>
      </vt:variant>
    </vt:vector>
  </HeadingPairs>
  <TitlesOfParts>
    <vt:vector size="23" baseType="lpstr">
      <vt:lpstr>Times New Roman</vt:lpstr>
      <vt:lpstr>Calibri</vt:lpstr>
      <vt:lpstr>Arial</vt:lpstr>
      <vt:lpstr>Federo</vt:lpstr>
      <vt:lpstr>Arial Black</vt:lpstr>
      <vt:lpstr>1_Office Theme</vt:lpstr>
      <vt:lpstr>2_Office Theme</vt:lpstr>
      <vt:lpstr>Contents Slide Master</vt:lpstr>
      <vt:lpstr>PowerPoint Presentation</vt:lpstr>
      <vt:lpstr>Outline</vt:lpstr>
      <vt:lpstr>Introduction to HydroGuard</vt:lpstr>
      <vt:lpstr>Problem Formulation</vt:lpstr>
      <vt:lpstr>Objectives of the Work</vt:lpstr>
      <vt:lpstr>Hardware requirement</vt:lpstr>
      <vt:lpstr>Hardware requirement</vt:lpstr>
      <vt:lpstr>Hardware requirement</vt:lpstr>
      <vt:lpstr>Methodology to be used</vt:lpstr>
      <vt:lpstr>Methodology to be used</vt:lpstr>
      <vt:lpstr>Literature Review </vt:lpstr>
      <vt:lpstr>Literature Review </vt:lpstr>
      <vt:lpstr>Conclusion</vt:lpstr>
      <vt:lpstr>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Branding</dc:creator>
  <cp:lastModifiedBy>_ Varun _</cp:lastModifiedBy>
  <cp:revision>1</cp:revision>
  <dcterms:created xsi:type="dcterms:W3CDTF">2019-01-09T10:33:58Z</dcterms:created>
  <dcterms:modified xsi:type="dcterms:W3CDTF">2026-04-28T17:37:02Z</dcterms:modified>
</cp:coreProperties>
</file>